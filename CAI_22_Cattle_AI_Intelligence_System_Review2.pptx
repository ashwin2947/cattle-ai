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20901E-66F7-4960-B4B1-07BA4CE4ED52}">
  <a:tblStyle styleId="{D320901E-66F7-4960-B4B1-07BA4CE4ED52}"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A3E5657-D9E0-446F-8DD0-A86F524C495B}"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847e1c2c7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847e1c2c7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c2b3236ad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c2b3236ad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28658262f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b28658262f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2b3236add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c2b3236add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2b3236add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g3c2b3236add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2b3236add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c2b3236add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2b3236add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c2b3236add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2b3236add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c2b3236add_0_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2b3236add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3c2b3236add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28658262f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b28658262f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2b3236add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c2b3236add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28658262f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g3b28658262f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2b3236add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0" name="Google Shape;180;g3c2b3236add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c2b3236add_0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g3c2b3236add_0_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c2b3236add_0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3c2b3236add_0_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2b3236add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3c2b3236add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c2b3236add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g3c2b3236add_0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2b3236add_0_1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g3c2b3236add_0_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c2b3236add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c2b3236add_0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c2b3236add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c2b3236add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2b3236add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c2b3236add_0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c2b3236add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g3c2b3236add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c2b3236add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c2b3236add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c2b3236add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c2b3236add_0_2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2b3236add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c2b3236add_0_2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2b3236add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c2b3236add_0_2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c2b3236add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g3c2b3236add_0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2b3236add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g3c2b3236add_0_3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c2b3236add_0_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c2b3236add_0_3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c2b3236add_0_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3c2b3236add_0_3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4" name="Google Shape;29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2" name="Google Shape;31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0" name="Google Shape;32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6" name="Google Shape;32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github.com/ashwin2947/livestock-breed-classificati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Cattle AI - Intelligence System</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CAI_22</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Mr. Jai Kumar B</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Assistant Professor</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School of Computer Science and Engineering</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700" u="none" cap="none" strike="noStrike">
                <a:solidFill>
                  <a:srgbClr val="17365D"/>
                </a:solidFill>
                <a:latin typeface="Cambria"/>
                <a:ea typeface="Cambria"/>
                <a:cs typeface="Cambria"/>
                <a:sym typeface="Cambria"/>
              </a:rPr>
              <a:t>Presidency University</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{D320901E-66F7-4960-B4B1-07BA4CE4ED52}</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lang="en-US" sz="1800">
                <a:solidFill>
                  <a:srgbClr val="17365D"/>
                </a:solidFill>
                <a:latin typeface="Cambria"/>
                <a:ea typeface="Cambria"/>
                <a:cs typeface="Cambria"/>
                <a:sym typeface="Cambria"/>
              </a:rPr>
              <a:t>CSE7302</a:t>
            </a:r>
            <a:r>
              <a:rPr b="1" i="0" lang="en-US" sz="1800" u="none" cap="none" strike="noStrike">
                <a:solidFill>
                  <a:srgbClr val="17365D"/>
                </a:solidFill>
                <a:latin typeface="Cambria"/>
                <a:ea typeface="Cambria"/>
                <a:cs typeface="Cambria"/>
                <a:sym typeface="Cambria"/>
              </a:rPr>
              <a:t>- </a:t>
            </a:r>
            <a:r>
              <a:rPr b="1" lang="en-US" sz="1800">
                <a:solidFill>
                  <a:srgbClr val="17365D"/>
                </a:solidFill>
                <a:latin typeface="Cambria"/>
                <a:ea typeface="Cambria"/>
                <a:cs typeface="Cambria"/>
                <a:sym typeface="Cambria"/>
              </a:rPr>
              <a:t>University</a:t>
            </a:r>
            <a:r>
              <a:rPr b="1" i="0" lang="en-US" sz="1800" u="none" cap="none" strike="noStrike">
                <a:solidFill>
                  <a:srgbClr val="17365D"/>
                </a:solidFill>
                <a:latin typeface="Cambria"/>
                <a:ea typeface="Cambria"/>
                <a:cs typeface="Cambria"/>
                <a:sym typeface="Cambria"/>
              </a:rPr>
              <a:t>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a:t>
            </a:r>
            <a:r>
              <a:rPr b="1" lang="en-US" sz="1800">
                <a:solidFill>
                  <a:srgbClr val="17365D"/>
                </a:solidFill>
                <a:latin typeface="Cambria"/>
                <a:ea typeface="Cambria"/>
                <a:cs typeface="Cambria"/>
                <a:sym typeface="Cambria"/>
              </a:rPr>
              <a:t>2</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lang="en-US" sz="1800">
                <a:solidFill>
                  <a:srgbClr val="FF0000"/>
                </a:solidFill>
                <a:latin typeface="Cambria"/>
                <a:ea typeface="Cambria"/>
                <a:cs typeface="Cambria"/>
                <a:sym typeface="Cambria"/>
              </a:rPr>
              <a:t>Ms. Suma N 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{AA3E5657-D9E0-446F-8DD0-A86F524C495B}</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SIH25004</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800">
                <a:latin typeface="Arial"/>
                <a:ea typeface="Arial"/>
                <a:cs typeface="Arial"/>
                <a:sym typeface="Arial"/>
              </a:rPr>
              <a:t>Organization:</a:t>
            </a:r>
            <a:r>
              <a:rPr lang="en-US" sz="1800">
                <a:latin typeface="Arial"/>
                <a:ea typeface="Arial"/>
                <a:cs typeface="Arial"/>
                <a:sym typeface="Arial"/>
              </a:rPr>
              <a:t> “</a:t>
            </a:r>
            <a:r>
              <a:rPr lang="en-US" sz="1800">
                <a:latin typeface="Arial"/>
                <a:ea typeface="Arial"/>
                <a:cs typeface="Arial"/>
                <a:sym typeface="Arial"/>
              </a:rPr>
              <a:t>Department of Animal Husbandry &amp; Dairying, Government of India</a:t>
            </a:r>
            <a:r>
              <a:rPr lang="en-US" sz="1800">
                <a:latin typeface="Arial"/>
                <a:ea typeface="Arial"/>
                <a:cs typeface="Arial"/>
                <a:sym typeface="Arial"/>
              </a:rPr>
              <a:t>”</a:t>
            </a:r>
            <a:endParaRPr sz="1800">
              <a:latin typeface="Arial"/>
              <a:ea typeface="Arial"/>
              <a:cs typeface="Arial"/>
              <a:sym typeface="Arial"/>
            </a:endParaRPr>
          </a:p>
          <a:p>
            <a:pPr indent="-190500" lvl="0" marL="342900" rtl="0" algn="just">
              <a:lnSpc>
                <a:spcPct val="80000"/>
              </a:lnSpc>
              <a:spcBef>
                <a:spcPts val="0"/>
              </a:spcBef>
              <a:spcAft>
                <a:spcPts val="0"/>
              </a:spcAft>
              <a:buSzPts val="1680"/>
              <a:buNone/>
            </a:pPr>
            <a:r>
              <a:t/>
            </a:r>
            <a:endParaRPr b="1"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Category (Hardware / Software / Both) :</a:t>
            </a:r>
            <a:r>
              <a:rPr lang="en-US" sz="1800">
                <a:latin typeface="Arial"/>
                <a:ea typeface="Arial"/>
                <a:cs typeface="Arial"/>
                <a:sym typeface="Arial"/>
              </a:rPr>
              <a:t> “Software”</a:t>
            </a:r>
            <a:endParaRPr sz="1800">
              <a:latin typeface="Arial"/>
              <a:ea typeface="Arial"/>
              <a:cs typeface="Arial"/>
              <a:sym typeface="Arial"/>
            </a:endParaRPr>
          </a:p>
          <a:p>
            <a:pPr indent="-190500" lvl="0" marL="342900" rtl="0" algn="just">
              <a:lnSpc>
                <a:spcPct val="180000"/>
              </a:lnSpc>
              <a:spcBef>
                <a:spcPts val="0"/>
              </a:spcBef>
              <a:spcAft>
                <a:spcPts val="0"/>
              </a:spcAft>
              <a:buSzPts val="1680"/>
              <a:buNone/>
            </a:pPr>
            <a:r>
              <a:rPr b="1" lang="en-US" sz="1800">
                <a:latin typeface="Arial"/>
                <a:ea typeface="Arial"/>
                <a:cs typeface="Arial"/>
                <a:sym typeface="Arial"/>
              </a:rPr>
              <a:t>Problem Description:</a:t>
            </a:r>
            <a:r>
              <a:rPr lang="en-US" sz="1800">
                <a:latin typeface="Arial"/>
                <a:ea typeface="Arial"/>
                <a:cs typeface="Arial"/>
                <a:sym typeface="Arial"/>
              </a:rPr>
              <a:t> “</a:t>
            </a:r>
            <a:r>
              <a:rPr lang="en-US" sz="1800">
                <a:latin typeface="Arial"/>
                <a:ea typeface="Arial"/>
                <a:cs typeface="Arial"/>
                <a:sym typeface="Arial"/>
              </a:rPr>
              <a:t>Accurate identification of livestock breeds and assessment of physical traits are essential for effective livestock management, breeding programs, and maintaining national animal databases. Currently, this process is largely manual, relying on visual inspection by experts, which is time-consuming, subjective, and difficult to scale. The problem statement focuses on developing a software-based intelligent system that can automatically identify livestock breeds and analyze physical traits from images using modern artificial intelligence techniques.</a:t>
            </a:r>
            <a:r>
              <a:rPr lang="en-US" sz="1800">
                <a:latin typeface="Arial"/>
                <a:ea typeface="Arial"/>
                <a:cs typeface="Arial"/>
                <a:sym typeface="Arial"/>
              </a:rPr>
              <a:t>”</a:t>
            </a:r>
            <a:endParaRPr sz="18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05" name="Google Shape;105;p15"/>
          <p:cNvSpPr txBox="1"/>
          <p:nvPr>
            <p:ph idx="1" type="body"/>
          </p:nvPr>
        </p:nvSpPr>
        <p:spPr>
          <a:xfrm>
            <a:off x="574350" y="1091025"/>
            <a:ext cx="10855800" cy="4903800"/>
          </a:xfrm>
          <a:prstGeom prst="rect">
            <a:avLst/>
          </a:prstGeom>
          <a:noFill/>
          <a:ln>
            <a:noFill/>
          </a:ln>
        </p:spPr>
        <p:txBody>
          <a:bodyPr anchorCtr="0" anchor="t" bIns="45700" lIns="91425" spcFirstLastPara="1" rIns="91425" wrap="square" tIns="45700">
            <a:noAutofit/>
          </a:bodyPr>
          <a:lstStyle/>
          <a:p>
            <a:pPr indent="0" lvl="0" marL="304800" rtl="0" algn="just">
              <a:lnSpc>
                <a:spcPct val="180000"/>
              </a:lnSpc>
              <a:spcBef>
                <a:spcPts val="0"/>
              </a:spcBef>
              <a:spcAft>
                <a:spcPts val="0"/>
              </a:spcAft>
              <a:buClr>
                <a:schemeClr val="dk1"/>
              </a:buClr>
              <a:buSzPts val="1629"/>
              <a:buFont typeface="Noto Sans Symbols"/>
              <a:buNone/>
            </a:pPr>
            <a:r>
              <a:rPr lang="en-US" sz="1840">
                <a:latin typeface="Arial"/>
                <a:ea typeface="Arial"/>
                <a:cs typeface="Arial"/>
                <a:sym typeface="Arial"/>
              </a:rPr>
              <a:t>Accurate livestock breed identification and physical trait assessment are essential for effective breeding management and productivity optimization in precision livestock farming. Conventional approaches rely on manual observation and physical measurements, which are time-consuming, labor-intensive, and prone to inconsistency. This project proposes a deep learning-based computer vision system for automated livestock breed classification and physical trait estimation using image data. The system leverages transfer learning with convolutional neural networks to extract robust visual features from cattle images. A multi-task learning framework is employed to simultaneously perform breed classification and regression-based estimation of physical traits such as body weight, height, and body length. </a:t>
            </a:r>
            <a:endParaRPr sz="1840">
              <a:latin typeface="Arial"/>
              <a:ea typeface="Arial"/>
              <a:cs typeface="Arial"/>
              <a:sym typeface="Arial"/>
            </a:endParaRPr>
          </a:p>
          <a:p>
            <a:pPr indent="-190500" lvl="0" marL="495300" rtl="0" algn="just">
              <a:lnSpc>
                <a:spcPct val="180000"/>
              </a:lnSpc>
              <a:spcBef>
                <a:spcPts val="0"/>
              </a:spcBef>
              <a:spcAft>
                <a:spcPts val="0"/>
              </a:spcAft>
              <a:buClr>
                <a:schemeClr val="dk1"/>
              </a:buClr>
              <a:buSzPts val="1629"/>
              <a:buFont typeface="Noto Sans Symbols"/>
              <a:buNone/>
            </a:pPr>
            <a:r>
              <a:t/>
            </a:r>
            <a:endParaRPr sz="184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Abstract</a:t>
            </a:r>
            <a:endParaRPr>
              <a:latin typeface="Cambria"/>
              <a:ea typeface="Cambria"/>
              <a:cs typeface="Cambria"/>
              <a:sym typeface="Cambria"/>
            </a:endParaRPr>
          </a:p>
        </p:txBody>
      </p:sp>
      <p:sp>
        <p:nvSpPr>
          <p:cNvPr id="111" name="Google Shape;111;p16"/>
          <p:cNvSpPr txBox="1"/>
          <p:nvPr>
            <p:ph idx="1" type="body"/>
          </p:nvPr>
        </p:nvSpPr>
        <p:spPr>
          <a:xfrm>
            <a:off x="574350" y="1091025"/>
            <a:ext cx="10855800" cy="4903800"/>
          </a:xfrm>
          <a:prstGeom prst="rect">
            <a:avLst/>
          </a:prstGeom>
          <a:noFill/>
          <a:ln>
            <a:noFill/>
          </a:ln>
        </p:spPr>
        <p:txBody>
          <a:bodyPr anchorCtr="0" anchor="t" bIns="45700" lIns="91425" spcFirstLastPara="1" rIns="91425" wrap="square" tIns="45700">
            <a:noAutofit/>
          </a:bodyPr>
          <a:lstStyle/>
          <a:p>
            <a:pPr indent="0" lvl="0" marL="304800" rtl="0" algn="just">
              <a:lnSpc>
                <a:spcPct val="180000"/>
              </a:lnSpc>
              <a:spcBef>
                <a:spcPts val="0"/>
              </a:spcBef>
              <a:spcAft>
                <a:spcPts val="0"/>
              </a:spcAft>
              <a:buClr>
                <a:schemeClr val="dk1"/>
              </a:buClr>
              <a:buSzPts val="1629"/>
              <a:buFont typeface="Noto Sans Symbols"/>
              <a:buNone/>
            </a:pPr>
            <a:r>
              <a:rPr lang="en-US" sz="1840">
                <a:latin typeface="Arial"/>
                <a:ea typeface="Arial"/>
                <a:cs typeface="Arial"/>
                <a:sym typeface="Arial"/>
              </a:rPr>
              <a:t>The proposed model is trained and evaluated on annotated livestock image datasets using standard classification and regression metrics. By enabling non-contact, scalable, and efficient analysis, the system aims to support data-driven decision-making in livestock management and promote the adoption of intelligent technologies in modern agricultural practices.</a:t>
            </a:r>
            <a:endParaRPr sz="1840">
              <a:latin typeface="Arial"/>
              <a:ea typeface="Arial"/>
              <a:cs typeface="Arial"/>
              <a:sym typeface="Arial"/>
            </a:endParaRPr>
          </a:p>
          <a:p>
            <a:pPr indent="-190500" lvl="0" marL="495300" rtl="0" algn="just">
              <a:lnSpc>
                <a:spcPct val="180000"/>
              </a:lnSpc>
              <a:spcBef>
                <a:spcPts val="0"/>
              </a:spcBef>
              <a:spcAft>
                <a:spcPts val="0"/>
              </a:spcAft>
              <a:buClr>
                <a:schemeClr val="dk1"/>
              </a:buClr>
              <a:buSzPts val="1629"/>
              <a:buFont typeface="Noto Sans Symbols"/>
              <a:buNone/>
            </a:pPr>
            <a:r>
              <a:t/>
            </a:r>
            <a:endParaRPr sz="184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Literature Survey</a:t>
            </a:r>
            <a:endParaRPr>
              <a:latin typeface="Cambria"/>
              <a:ea typeface="Cambria"/>
              <a:cs typeface="Cambria"/>
              <a:sym typeface="Cambria"/>
            </a:endParaRPr>
          </a:p>
        </p:txBody>
      </p:sp>
      <p:sp>
        <p:nvSpPr>
          <p:cNvPr id="117" name="Google Shape;117;p17"/>
          <p:cNvSpPr txBox="1"/>
          <p:nvPr/>
        </p:nvSpPr>
        <p:spPr>
          <a:xfrm>
            <a:off x="855250" y="1134025"/>
            <a:ext cx="10583100" cy="488730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None/>
            </a:pPr>
            <a:r>
              <a:rPr b="1" lang="en-US" sz="1800">
                <a:solidFill>
                  <a:schemeClr val="dk1"/>
                </a:solidFill>
              </a:rPr>
              <a:t>Overview</a:t>
            </a:r>
            <a:endParaRPr sz="1800">
              <a:solidFill>
                <a:schemeClr val="dk1"/>
              </a:solidFill>
            </a:endParaRPr>
          </a:p>
          <a:p>
            <a:pPr indent="0" lvl="0" marL="0" marR="0" rtl="0" algn="just">
              <a:lnSpc>
                <a:spcPct val="150000"/>
              </a:lnSpc>
              <a:spcBef>
                <a:spcPts val="0"/>
              </a:spcBef>
              <a:spcAft>
                <a:spcPts val="0"/>
              </a:spcAft>
              <a:buNone/>
            </a:pPr>
            <a:r>
              <a:rPr lang="en-US" sz="1800">
                <a:solidFill>
                  <a:schemeClr val="dk1"/>
                </a:solidFill>
              </a:rPr>
              <a:t>This section reviews existing research related to automated livestock analysis using computer vision and deep learning techniques. The focus is on image-based livestock breed classification, physical trait and weight estimation, multi-task learning frameworks, segmentation and keypoint-based measurement techniques, and deployment challenges in real-world farming environments. These studies collectively address the need for non-contact, scalable, and accurate livestock monitoring systems, which form the foundation of the proposed deep learning-based livestock breed classification and physical trait estimation system.</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23" name="Google Shape;123;p18"/>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523"/>
              <a:buNone/>
            </a:pPr>
            <a:r>
              <a:rPr b="1" lang="en-US" sz="1800">
                <a:latin typeface="Arial"/>
                <a:ea typeface="Arial"/>
                <a:cs typeface="Arial"/>
                <a:sym typeface="Arial"/>
              </a:rPr>
              <a:t>1. Computer Vision in Precision Livestock Farming</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Recent advancements in precision livestock farming have demonstrated the effectiveness of computer vision techniques in automating livestock monitoring tasks such as identification, health assessment, and growth analysis. Several survey studies highlight the role of deep learning models in reducing manual labor and improving measurement accuracy in large-scale farming environments. Vision-based systems are particularly valued for their non-invasive nature and ability to operate continuously under real farm conditions.</a:t>
            </a:r>
            <a:endParaRPr sz="1800">
              <a:latin typeface="Arial"/>
              <a:ea typeface="Arial"/>
              <a:cs typeface="Arial"/>
              <a:sym typeface="Arial"/>
            </a:endParaRPr>
          </a:p>
          <a:p>
            <a:pPr indent="0" lvl="0" marL="0" rtl="0" algn="just">
              <a:lnSpc>
                <a:spcPct val="150000"/>
              </a:lnSpc>
              <a:spcBef>
                <a:spcPts val="0"/>
              </a:spcBef>
              <a:spcAft>
                <a:spcPts val="0"/>
              </a:spcAft>
              <a:buSzPts val="523"/>
              <a:buNone/>
            </a:pPr>
            <a:r>
              <a:rPr b="1" lang="en-US" sz="1800">
                <a:latin typeface="Arial"/>
                <a:ea typeface="Arial"/>
                <a:cs typeface="Arial"/>
                <a:sym typeface="Arial"/>
              </a:rPr>
              <a:t>Research Gap:</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Most existing systems focus on a single task such as monitoring or detection, limiting their applicability for comprehensive livestock assessment.</a:t>
            </a:r>
            <a:endParaRPr sz="1800">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29" name="Google Shape;129;p19"/>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523"/>
              <a:buNone/>
            </a:pPr>
            <a:r>
              <a:rPr b="1" lang="en-US" sz="1800">
                <a:latin typeface="Arial"/>
                <a:ea typeface="Arial"/>
                <a:cs typeface="Arial"/>
                <a:sym typeface="Arial"/>
              </a:rPr>
              <a:t>2. Livestock Breed Classification Using Deep Learning</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Multiple studies have explored image-based cattle breed classification using convolutional neural networks. Early approaches relied on handcrafted features such as texture and color descriptors, while recent methods adopt deep CNNs with transfer learning to improve robustness against variations in pose, lighting, and background. Recent research also investigates real-time and explainable deep learning models to enhance usability and trust.</a:t>
            </a:r>
            <a:endParaRPr sz="1800">
              <a:latin typeface="Arial"/>
              <a:ea typeface="Arial"/>
              <a:cs typeface="Arial"/>
              <a:sym typeface="Arial"/>
            </a:endParaRPr>
          </a:p>
          <a:p>
            <a:pPr indent="0" lvl="0" marL="0" rtl="0" algn="just">
              <a:lnSpc>
                <a:spcPct val="150000"/>
              </a:lnSpc>
              <a:spcBef>
                <a:spcPts val="0"/>
              </a:spcBef>
              <a:spcAft>
                <a:spcPts val="0"/>
              </a:spcAft>
              <a:buSzPts val="523"/>
              <a:buNone/>
            </a:pPr>
            <a:r>
              <a:rPr b="1" lang="en-US" sz="1800">
                <a:latin typeface="Arial"/>
                <a:ea typeface="Arial"/>
                <a:cs typeface="Arial"/>
                <a:sym typeface="Arial"/>
              </a:rPr>
              <a:t>Research Gap:</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Many breed classification systems are designed as standalone classifiers and do not integrate physical trait estimation, reducing their practical value for breeding and productivity analysis.</a:t>
            </a:r>
            <a:endParaRPr sz="18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35" name="Google Shape;135;p20"/>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523"/>
              <a:buNone/>
            </a:pPr>
            <a:r>
              <a:rPr b="1" lang="en-US" sz="1800">
                <a:latin typeface="Arial"/>
                <a:ea typeface="Arial"/>
                <a:cs typeface="Arial"/>
                <a:sym typeface="Arial"/>
              </a:rPr>
              <a:t>3. Physical Trait and Weight Estimation from Images</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A significant body of research focuses on estimating livestock body weight and physical dimensions using 2D images, silhouettes, depth data, or 3D point clouds. Segmentation-based approaches combined with regression models have shown promising results in predicting body weight without direct contact. Reviews indicate that body dimensions such as height and length are strong predictors of weight.</a:t>
            </a:r>
            <a:endParaRPr sz="1800">
              <a:latin typeface="Arial"/>
              <a:ea typeface="Arial"/>
              <a:cs typeface="Arial"/>
              <a:sym typeface="Arial"/>
            </a:endParaRPr>
          </a:p>
          <a:p>
            <a:pPr indent="0" lvl="0" marL="0" rtl="0" algn="just">
              <a:lnSpc>
                <a:spcPct val="150000"/>
              </a:lnSpc>
              <a:spcBef>
                <a:spcPts val="0"/>
              </a:spcBef>
              <a:spcAft>
                <a:spcPts val="0"/>
              </a:spcAft>
              <a:buSzPts val="523"/>
              <a:buNone/>
            </a:pPr>
            <a:r>
              <a:rPr b="1" lang="en-US" sz="1800">
                <a:latin typeface="Arial"/>
                <a:ea typeface="Arial"/>
                <a:cs typeface="Arial"/>
                <a:sym typeface="Arial"/>
              </a:rPr>
              <a:t>Research Gap:</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Most trait estimation studies operate independently of breed identification and often require controlled imaging conditions or specialized sensors.</a:t>
            </a:r>
            <a:endParaRPr sz="1800">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41" name="Google Shape;141;p21"/>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523"/>
              <a:buNone/>
            </a:pPr>
            <a:r>
              <a:rPr b="1" lang="en-US" sz="1800">
                <a:latin typeface="Arial"/>
                <a:ea typeface="Arial"/>
                <a:cs typeface="Arial"/>
                <a:sym typeface="Arial"/>
              </a:rPr>
              <a:t>4. Multi-Task Learning for Joint Classification and Regression</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Multi-task learning has been widely applied in computer vision to enable a single model to perform multiple related tasks by sharing learned representations. Recent studies demonstrate that joint learning of classification and regression tasks improves generalization and computational efficiency. Such frameworks are particularly suitable for livestock analysis, where breed and physical traits are closely related.</a:t>
            </a:r>
            <a:endParaRPr sz="1800">
              <a:latin typeface="Arial"/>
              <a:ea typeface="Arial"/>
              <a:cs typeface="Arial"/>
              <a:sym typeface="Arial"/>
            </a:endParaRPr>
          </a:p>
          <a:p>
            <a:pPr indent="0" lvl="0" marL="0" rtl="0" algn="just">
              <a:lnSpc>
                <a:spcPct val="150000"/>
              </a:lnSpc>
              <a:spcBef>
                <a:spcPts val="0"/>
              </a:spcBef>
              <a:spcAft>
                <a:spcPts val="0"/>
              </a:spcAft>
              <a:buSzPts val="523"/>
              <a:buNone/>
            </a:pPr>
            <a:r>
              <a:rPr b="1" lang="en-US" sz="1800">
                <a:latin typeface="Arial"/>
                <a:ea typeface="Arial"/>
                <a:cs typeface="Arial"/>
                <a:sym typeface="Arial"/>
              </a:rPr>
              <a:t>Research Gap:</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Despite its advantages, multi-task learning has been underexplored in livestock applications, with very few studies integrating breed classification and trait estimation into a unified framework.</a:t>
            </a:r>
            <a:endParaRPr sz="1800">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47" name="Google Shape;147;p22"/>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SzPts val="523"/>
              <a:buNone/>
            </a:pPr>
            <a:r>
              <a:rPr b="1" lang="en-US" sz="1800">
                <a:latin typeface="Arial"/>
                <a:ea typeface="Arial"/>
                <a:cs typeface="Arial"/>
                <a:sym typeface="Arial"/>
              </a:rPr>
              <a:t>5. Segmentation and Keypoint-Based Livestock Measurement</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Advanced research employs instance segmentation and pose estimation techniques to extract precise body contours and anatomical keypoints from livestock images. These methods enable accurate measurement of body dimensions and improve robustness to occlusions and background noise. Segmentation-assisted pipelines are often used as a preprocessing step for regression tasks.</a:t>
            </a:r>
            <a:endParaRPr sz="1800">
              <a:latin typeface="Arial"/>
              <a:ea typeface="Arial"/>
              <a:cs typeface="Arial"/>
              <a:sym typeface="Arial"/>
            </a:endParaRPr>
          </a:p>
          <a:p>
            <a:pPr indent="0" lvl="0" marL="0" rtl="0" algn="just">
              <a:lnSpc>
                <a:spcPct val="150000"/>
              </a:lnSpc>
              <a:spcBef>
                <a:spcPts val="0"/>
              </a:spcBef>
              <a:spcAft>
                <a:spcPts val="0"/>
              </a:spcAft>
              <a:buSzPts val="523"/>
              <a:buNone/>
            </a:pPr>
            <a:r>
              <a:rPr b="1" lang="en-US" sz="1800">
                <a:latin typeface="Arial"/>
                <a:ea typeface="Arial"/>
                <a:cs typeface="Arial"/>
                <a:sym typeface="Arial"/>
              </a:rPr>
              <a:t>Research Gap:</a:t>
            </a:r>
            <a:endParaRPr b="1" sz="1800">
              <a:latin typeface="Arial"/>
              <a:ea typeface="Arial"/>
              <a:cs typeface="Arial"/>
              <a:sym typeface="Arial"/>
            </a:endParaRPr>
          </a:p>
          <a:p>
            <a:pPr indent="0" lvl="0" marL="0" rtl="0" algn="just">
              <a:lnSpc>
                <a:spcPct val="150000"/>
              </a:lnSpc>
              <a:spcBef>
                <a:spcPts val="0"/>
              </a:spcBef>
              <a:spcAft>
                <a:spcPts val="0"/>
              </a:spcAft>
              <a:buSzPts val="523"/>
              <a:buNone/>
            </a:pPr>
            <a:r>
              <a:rPr lang="en-US" sz="1800">
                <a:latin typeface="Arial"/>
                <a:ea typeface="Arial"/>
                <a:cs typeface="Arial"/>
                <a:sym typeface="Arial"/>
              </a:rPr>
              <a:t>Such approaches are computationally intensive and are rarely combined with end-to-end multi-task deep learning models suitable for real-time deployment.</a:t>
            </a:r>
            <a:endParaRPr sz="1800">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800"/>
              <a:buFont typeface="Arial"/>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53" name="Google Shape;153;p23"/>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0" lvl="0" marL="0" rtl="0" algn="just">
              <a:lnSpc>
                <a:spcPct val="180000"/>
              </a:lnSpc>
              <a:spcBef>
                <a:spcPts val="0"/>
              </a:spcBef>
              <a:spcAft>
                <a:spcPts val="0"/>
              </a:spcAft>
              <a:buSzPts val="523"/>
              <a:buNone/>
            </a:pPr>
            <a:r>
              <a:rPr b="1" lang="en-US" sz="1800">
                <a:latin typeface="Arial"/>
                <a:ea typeface="Arial"/>
                <a:cs typeface="Arial"/>
                <a:sym typeface="Arial"/>
              </a:rPr>
              <a:t>6. Deployment Challenges and Practical Considerations</a:t>
            </a:r>
            <a:endParaRPr b="1" sz="1800">
              <a:latin typeface="Arial"/>
              <a:ea typeface="Arial"/>
              <a:cs typeface="Arial"/>
              <a:sym typeface="Arial"/>
            </a:endParaRPr>
          </a:p>
          <a:p>
            <a:pPr indent="0" lvl="0" marL="0" rtl="0" algn="just">
              <a:lnSpc>
                <a:spcPct val="180000"/>
              </a:lnSpc>
              <a:spcBef>
                <a:spcPts val="0"/>
              </a:spcBef>
              <a:spcAft>
                <a:spcPts val="0"/>
              </a:spcAft>
              <a:buSzPts val="523"/>
              <a:buNone/>
            </a:pPr>
            <a:r>
              <a:rPr lang="en-US" sz="1800">
                <a:latin typeface="Arial"/>
                <a:ea typeface="Arial"/>
                <a:cs typeface="Arial"/>
                <a:sym typeface="Arial"/>
              </a:rPr>
              <a:t>Several studies emphasize challenges such as data scarcity, class imbalance, environmental variability, and hardware limitations when deploying livestock vision systems in real-world settings. Recent works explore lightweight architectures and edge deployment to enable mobile and on-farm applications.</a:t>
            </a:r>
            <a:endParaRPr sz="1800">
              <a:latin typeface="Arial"/>
              <a:ea typeface="Arial"/>
              <a:cs typeface="Arial"/>
              <a:sym typeface="Arial"/>
            </a:endParaRPr>
          </a:p>
          <a:p>
            <a:pPr indent="0" lvl="0" marL="0" rtl="0" algn="just">
              <a:lnSpc>
                <a:spcPct val="180000"/>
              </a:lnSpc>
              <a:spcBef>
                <a:spcPts val="0"/>
              </a:spcBef>
              <a:spcAft>
                <a:spcPts val="0"/>
              </a:spcAft>
              <a:buSzPts val="523"/>
              <a:buNone/>
            </a:pPr>
            <a:r>
              <a:rPr b="1" lang="en-US" sz="1800">
                <a:latin typeface="Arial"/>
                <a:ea typeface="Arial"/>
                <a:cs typeface="Arial"/>
                <a:sym typeface="Arial"/>
              </a:rPr>
              <a:t>Research Gap:</a:t>
            </a:r>
            <a:endParaRPr b="1" sz="1800">
              <a:latin typeface="Arial"/>
              <a:ea typeface="Arial"/>
              <a:cs typeface="Arial"/>
              <a:sym typeface="Arial"/>
            </a:endParaRPr>
          </a:p>
          <a:p>
            <a:pPr indent="0" lvl="0" marL="0" rtl="0" algn="just">
              <a:lnSpc>
                <a:spcPct val="180000"/>
              </a:lnSpc>
              <a:spcBef>
                <a:spcPts val="0"/>
              </a:spcBef>
              <a:spcAft>
                <a:spcPts val="0"/>
              </a:spcAft>
              <a:buSzPts val="523"/>
              <a:buNone/>
            </a:pPr>
            <a:r>
              <a:rPr lang="en-US" sz="1800">
                <a:latin typeface="Arial"/>
                <a:ea typeface="Arial"/>
                <a:cs typeface="Arial"/>
                <a:sym typeface="Arial"/>
              </a:rPr>
              <a:t>There is a lack of integrated, deployable systems that balance accuracy, efficiency, and scalability while addressing multiple livestock assessment tasks simultaneously.</a:t>
            </a:r>
            <a:endParaRPr sz="18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Literature Survey </a:t>
            </a:r>
            <a:endParaRPr>
              <a:latin typeface="Cambria"/>
              <a:ea typeface="Cambria"/>
              <a:cs typeface="Cambria"/>
              <a:sym typeface="Cambria"/>
            </a:endParaRPr>
          </a:p>
        </p:txBody>
      </p:sp>
      <p:sp>
        <p:nvSpPr>
          <p:cNvPr id="159" name="Google Shape;159;p2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0" lvl="0" marL="0" rtl="0" algn="l">
              <a:lnSpc>
                <a:spcPct val="180000"/>
              </a:lnSpc>
              <a:spcBef>
                <a:spcPts val="0"/>
              </a:spcBef>
              <a:spcAft>
                <a:spcPts val="0"/>
              </a:spcAft>
              <a:buNone/>
            </a:pPr>
            <a:r>
              <a:rPr b="1" lang="en-US" sz="1800">
                <a:latin typeface="Arial"/>
                <a:ea typeface="Arial"/>
                <a:cs typeface="Arial"/>
                <a:sym typeface="Arial"/>
              </a:rPr>
              <a:t>Summary of Research Gaps</a:t>
            </a:r>
            <a:endParaRPr b="1" sz="1800">
              <a:latin typeface="Arial"/>
              <a:ea typeface="Arial"/>
              <a:cs typeface="Arial"/>
              <a:sym typeface="Arial"/>
            </a:endParaRPr>
          </a:p>
          <a:p>
            <a:pPr indent="0" lvl="0" marL="0" rtl="0" algn="l">
              <a:lnSpc>
                <a:spcPct val="180000"/>
              </a:lnSpc>
              <a:spcBef>
                <a:spcPts val="0"/>
              </a:spcBef>
              <a:spcAft>
                <a:spcPts val="0"/>
              </a:spcAft>
              <a:buNone/>
            </a:pPr>
            <a:r>
              <a:rPr lang="en-US" sz="1800">
                <a:latin typeface="Arial"/>
                <a:ea typeface="Arial"/>
                <a:cs typeface="Arial"/>
                <a:sym typeface="Arial"/>
              </a:rPr>
              <a:t>Based on the reviewed literature, it is evident that:</a:t>
            </a:r>
            <a:endParaRPr sz="1800">
              <a:latin typeface="Arial"/>
              <a:ea typeface="Arial"/>
              <a:cs typeface="Arial"/>
              <a:sym typeface="Arial"/>
            </a:endParaRPr>
          </a:p>
          <a:p>
            <a:pPr indent="-342900" lvl="0" marL="457200" rtl="0" algn="l">
              <a:lnSpc>
                <a:spcPct val="180000"/>
              </a:lnSpc>
              <a:spcBef>
                <a:spcPts val="0"/>
              </a:spcBef>
              <a:spcAft>
                <a:spcPts val="0"/>
              </a:spcAft>
              <a:buSzPts val="1800"/>
              <a:buFont typeface="Arial"/>
              <a:buChar char="•"/>
            </a:pPr>
            <a:r>
              <a:rPr lang="en-US" sz="1800">
                <a:latin typeface="Arial"/>
                <a:ea typeface="Arial"/>
                <a:cs typeface="Arial"/>
                <a:sym typeface="Arial"/>
              </a:rPr>
              <a:t>Most studies address either breed classification or trait estimation, but not both.</a:t>
            </a:r>
            <a:endParaRPr sz="1800">
              <a:latin typeface="Arial"/>
              <a:ea typeface="Arial"/>
              <a:cs typeface="Arial"/>
              <a:sym typeface="Arial"/>
            </a:endParaRPr>
          </a:p>
          <a:p>
            <a:pPr indent="-342900" lvl="0" marL="457200" rtl="0" algn="l">
              <a:lnSpc>
                <a:spcPct val="180000"/>
              </a:lnSpc>
              <a:spcBef>
                <a:spcPts val="0"/>
              </a:spcBef>
              <a:spcAft>
                <a:spcPts val="0"/>
              </a:spcAft>
              <a:buSzPts val="1800"/>
              <a:buFont typeface="Arial"/>
              <a:buChar char="•"/>
            </a:pPr>
            <a:r>
              <a:rPr lang="en-US" sz="1800">
                <a:latin typeface="Arial"/>
                <a:ea typeface="Arial"/>
                <a:cs typeface="Arial"/>
                <a:sym typeface="Arial"/>
              </a:rPr>
              <a:t>Multi-task deep learning approaches are rarely applied in livestock computer vision.</a:t>
            </a:r>
            <a:endParaRPr sz="1800">
              <a:latin typeface="Arial"/>
              <a:ea typeface="Arial"/>
              <a:cs typeface="Arial"/>
              <a:sym typeface="Arial"/>
            </a:endParaRPr>
          </a:p>
          <a:p>
            <a:pPr indent="-342900" lvl="0" marL="457200" rtl="0" algn="l">
              <a:lnSpc>
                <a:spcPct val="180000"/>
              </a:lnSpc>
              <a:spcBef>
                <a:spcPts val="0"/>
              </a:spcBef>
              <a:spcAft>
                <a:spcPts val="0"/>
              </a:spcAft>
              <a:buSzPts val="1800"/>
              <a:buFont typeface="Arial"/>
              <a:buChar char="•"/>
            </a:pPr>
            <a:r>
              <a:rPr lang="en-US" sz="1800">
                <a:latin typeface="Arial"/>
                <a:ea typeface="Arial"/>
                <a:cs typeface="Arial"/>
                <a:sym typeface="Arial"/>
              </a:rPr>
              <a:t>Existing systems often require controlled environments or specialized hardware.</a:t>
            </a:r>
            <a:endParaRPr sz="1800">
              <a:latin typeface="Arial"/>
              <a:ea typeface="Arial"/>
              <a:cs typeface="Arial"/>
              <a:sym typeface="Arial"/>
            </a:endParaRPr>
          </a:p>
          <a:p>
            <a:pPr indent="-342900" lvl="0" marL="457200" rtl="0" algn="l">
              <a:lnSpc>
                <a:spcPct val="180000"/>
              </a:lnSpc>
              <a:spcBef>
                <a:spcPts val="0"/>
              </a:spcBef>
              <a:spcAft>
                <a:spcPts val="0"/>
              </a:spcAft>
              <a:buSzPts val="1800"/>
              <a:buFont typeface="Arial"/>
              <a:buChar char="•"/>
            </a:pPr>
            <a:r>
              <a:rPr lang="en-US" sz="1800">
                <a:latin typeface="Arial"/>
                <a:ea typeface="Arial"/>
                <a:cs typeface="Arial"/>
                <a:sym typeface="Arial"/>
              </a:rPr>
              <a:t>There is a need for a unified, non-contact, and scalable framework for comprehensive livestock analysis.</a:t>
            </a:r>
            <a:endParaRPr sz="1800">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Project Objectives</a:t>
            </a:r>
            <a:endParaRPr>
              <a:latin typeface="Cambria"/>
              <a:ea typeface="Cambria"/>
              <a:cs typeface="Cambria"/>
              <a:sym typeface="Cambria"/>
            </a:endParaRPr>
          </a:p>
        </p:txBody>
      </p:sp>
      <p:sp>
        <p:nvSpPr>
          <p:cNvPr id="165" name="Google Shape;165;p25"/>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342900" lvl="0" marL="457200" rtl="0" algn="just">
              <a:lnSpc>
                <a:spcPct val="180000"/>
              </a:lnSpc>
              <a:spcBef>
                <a:spcPts val="0"/>
              </a:spcBef>
              <a:spcAft>
                <a:spcPts val="0"/>
              </a:spcAft>
              <a:buSzPts val="1800"/>
              <a:buFont typeface="Arial"/>
              <a:buAutoNum type="arabicPeriod"/>
            </a:pPr>
            <a:r>
              <a:rPr lang="en-US" sz="1800">
                <a:latin typeface="Arial"/>
                <a:ea typeface="Arial"/>
                <a:cs typeface="Arial"/>
                <a:sym typeface="Arial"/>
              </a:rPr>
              <a:t>To design and develop an image-based deep learning system capable of automatically classifying livestock breeds using convolutional neural networks, achieving a minimum classification accuracy benchmark on a curated cattle image dataset.</a:t>
            </a:r>
            <a:endParaRPr sz="1800">
              <a:latin typeface="Arial"/>
              <a:ea typeface="Arial"/>
              <a:cs typeface="Arial"/>
              <a:sym typeface="Arial"/>
            </a:endParaRPr>
          </a:p>
          <a:p>
            <a:pPr indent="-342900" lvl="0" marL="457200" rtl="0" algn="just">
              <a:lnSpc>
                <a:spcPct val="180000"/>
              </a:lnSpc>
              <a:spcBef>
                <a:spcPts val="0"/>
              </a:spcBef>
              <a:spcAft>
                <a:spcPts val="0"/>
              </a:spcAft>
              <a:buSzPts val="1800"/>
              <a:buFont typeface="Arial"/>
              <a:buAutoNum type="arabicPeriod"/>
            </a:pPr>
            <a:r>
              <a:rPr lang="en-US" sz="1800">
                <a:latin typeface="Arial"/>
                <a:ea typeface="Arial"/>
                <a:cs typeface="Arial"/>
                <a:sym typeface="Arial"/>
              </a:rPr>
              <a:t>To estimate key physical traits of livestock, including body weight, height, and body length, from visual data using regression-based deep learning models, and to evaluate performance using standard metrics such as Mean Absolute Error (MAE) and Root Mean Squared Error (RMSE).</a:t>
            </a:r>
            <a:endParaRPr sz="1800">
              <a:latin typeface="Arial"/>
              <a:ea typeface="Arial"/>
              <a:cs typeface="Arial"/>
              <a:sym typeface="Arial"/>
            </a:endParaRPr>
          </a:p>
          <a:p>
            <a:pPr indent="-342900" lvl="0" marL="457200" rtl="0" algn="just">
              <a:lnSpc>
                <a:spcPct val="180000"/>
              </a:lnSpc>
              <a:spcBef>
                <a:spcPts val="0"/>
              </a:spcBef>
              <a:spcAft>
                <a:spcPts val="0"/>
              </a:spcAft>
              <a:buSzPts val="1800"/>
              <a:buFont typeface="Arial"/>
              <a:buAutoNum type="arabicPeriod"/>
            </a:pPr>
            <a:r>
              <a:rPr lang="en-US" sz="1800">
                <a:latin typeface="Arial"/>
                <a:ea typeface="Arial"/>
                <a:cs typeface="Arial"/>
                <a:sym typeface="Arial"/>
              </a:rPr>
              <a:t>To implement a multi-task learning framework that jointly performs breed classification and physical trait estimation within a single model, and to analyze its effectiveness compared to training separate task-specific models.</a:t>
            </a:r>
            <a:endParaRPr sz="1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Project Objectives</a:t>
            </a:r>
            <a:endParaRPr>
              <a:latin typeface="Cambria"/>
              <a:ea typeface="Cambria"/>
              <a:cs typeface="Cambria"/>
              <a:sym typeface="Cambria"/>
            </a:endParaRPr>
          </a:p>
        </p:txBody>
      </p:sp>
      <p:sp>
        <p:nvSpPr>
          <p:cNvPr id="171" name="Google Shape;171;p26"/>
          <p:cNvSpPr txBox="1"/>
          <p:nvPr>
            <p:ph idx="1" type="body"/>
          </p:nvPr>
        </p:nvSpPr>
        <p:spPr>
          <a:xfrm>
            <a:off x="762000" y="1091025"/>
            <a:ext cx="10668000" cy="4874400"/>
          </a:xfrm>
          <a:prstGeom prst="rect">
            <a:avLst/>
          </a:prstGeom>
          <a:noFill/>
          <a:ln>
            <a:noFill/>
          </a:ln>
        </p:spPr>
        <p:txBody>
          <a:bodyPr anchorCtr="0" anchor="t" bIns="45700" lIns="91425" spcFirstLastPara="1" rIns="91425" wrap="square" tIns="45700">
            <a:noAutofit/>
          </a:bodyPr>
          <a:lstStyle/>
          <a:p>
            <a:pPr indent="-342900" lvl="0" marL="457200" rtl="0" algn="just">
              <a:lnSpc>
                <a:spcPct val="180000"/>
              </a:lnSpc>
              <a:spcBef>
                <a:spcPts val="0"/>
              </a:spcBef>
              <a:spcAft>
                <a:spcPts val="0"/>
              </a:spcAft>
              <a:buSzPts val="1800"/>
              <a:buFont typeface="Arial"/>
              <a:buAutoNum type="arabicPeriod" startAt="4"/>
            </a:pPr>
            <a:r>
              <a:rPr lang="en-US" sz="1800">
                <a:latin typeface="Arial"/>
                <a:ea typeface="Arial"/>
                <a:cs typeface="Arial"/>
                <a:sym typeface="Arial"/>
              </a:rPr>
              <a:t>To apply data preprocessing and augmentation techniques to improve model robustness against variations in lighting, pose, background, and image quality commonly encountered in real-world farming environments.</a:t>
            </a:r>
            <a:endParaRPr sz="1800">
              <a:latin typeface="Arial"/>
              <a:ea typeface="Arial"/>
              <a:cs typeface="Arial"/>
              <a:sym typeface="Arial"/>
            </a:endParaRPr>
          </a:p>
          <a:p>
            <a:pPr indent="-342900" lvl="0" marL="457200" rtl="0" algn="just">
              <a:lnSpc>
                <a:spcPct val="180000"/>
              </a:lnSpc>
              <a:spcBef>
                <a:spcPts val="0"/>
              </a:spcBef>
              <a:spcAft>
                <a:spcPts val="0"/>
              </a:spcAft>
              <a:buSzPts val="1800"/>
              <a:buFont typeface="Arial"/>
              <a:buAutoNum type="arabicPeriod" startAt="4"/>
            </a:pPr>
            <a:r>
              <a:rPr lang="en-US" sz="1800">
                <a:latin typeface="Arial"/>
                <a:ea typeface="Arial"/>
                <a:cs typeface="Arial"/>
                <a:sym typeface="Arial"/>
              </a:rPr>
              <a:t>To experimentally evaluate the proposed system on annotated livestock image datasets and report quantitative results through accuracy, confusion matrices, and regression error analysis.</a:t>
            </a:r>
            <a:endParaRPr sz="1800">
              <a:latin typeface="Arial"/>
              <a:ea typeface="Arial"/>
              <a:cs typeface="Arial"/>
              <a:sym typeface="Arial"/>
            </a:endParaRPr>
          </a:p>
          <a:p>
            <a:pPr indent="-342900" lvl="0" marL="457200" rtl="0" algn="just">
              <a:lnSpc>
                <a:spcPct val="180000"/>
              </a:lnSpc>
              <a:spcBef>
                <a:spcPts val="0"/>
              </a:spcBef>
              <a:spcAft>
                <a:spcPts val="0"/>
              </a:spcAft>
              <a:buSzPts val="1800"/>
              <a:buFont typeface="Arial"/>
              <a:buAutoNum type="arabicPeriod" startAt="4"/>
            </a:pPr>
            <a:r>
              <a:rPr lang="en-US" sz="1800">
                <a:latin typeface="Arial"/>
                <a:ea typeface="Arial"/>
                <a:cs typeface="Arial"/>
                <a:sym typeface="Arial"/>
              </a:rPr>
              <a:t>To develop a deployable inference pipeline that enables non-contact livestock assessment from uploaded images, demonstrating the feasibility of real-time or near real-time usage in practical agricultural settings.</a:t>
            </a:r>
            <a:endParaRPr sz="1800">
              <a:latin typeface="Arial"/>
              <a:ea typeface="Arial"/>
              <a:cs typeface="Arial"/>
              <a:sym typeface="Arial"/>
            </a:endParaRPr>
          </a:p>
          <a:p>
            <a:pPr indent="-342900" lvl="0" marL="457200" rtl="0" algn="just">
              <a:lnSpc>
                <a:spcPct val="180000"/>
              </a:lnSpc>
              <a:spcBef>
                <a:spcPts val="0"/>
              </a:spcBef>
              <a:spcAft>
                <a:spcPts val="0"/>
              </a:spcAft>
              <a:buSzPts val="1800"/>
              <a:buFont typeface="Arial"/>
              <a:buAutoNum type="arabicPeriod" startAt="4"/>
            </a:pPr>
            <a:r>
              <a:rPr lang="en-US" sz="1800">
                <a:latin typeface="Arial"/>
                <a:ea typeface="Arial"/>
                <a:cs typeface="Arial"/>
                <a:sym typeface="Arial"/>
              </a:rPr>
              <a:t>To analyze system limitations and identify future enhancements, including segmentation-assisted measurement and edge-device deployment, to support scalability and real-world adoption.</a:t>
            </a:r>
            <a:endParaRPr sz="18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Related Work</a:t>
            </a:r>
            <a:endParaRPr>
              <a:latin typeface="Cambria"/>
              <a:ea typeface="Cambria"/>
              <a:cs typeface="Cambria"/>
              <a:sym typeface="Cambria"/>
            </a:endParaRPr>
          </a:p>
        </p:txBody>
      </p:sp>
      <p:sp>
        <p:nvSpPr>
          <p:cNvPr id="177" name="Google Shape;177;p27"/>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lang="en-US" sz="1800">
                <a:solidFill>
                  <a:schemeClr val="dk1"/>
                </a:solidFill>
              </a:rPr>
              <a:t>Several research studies have explored animal classification using computer vision techniques: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CNN-based models have been used for animal species classification, demonstrating high accuracy </a:t>
            </a:r>
            <a:r>
              <a:rPr lang="en-US" sz="1800">
                <a:solidFill>
                  <a:schemeClr val="dk1"/>
                </a:solidFill>
              </a:rPr>
              <a:t>w</a:t>
            </a:r>
            <a:r>
              <a:rPr lang="en-US" sz="1800">
                <a:solidFill>
                  <a:schemeClr val="dk1"/>
                </a:solidFill>
              </a:rPr>
              <a:t>ith transfer learning.</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Some studies have applied deep learning for cattle identification, focusing mainly on single-task breed classification.</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Limited works have explored physical trait estimation or explainable AI in livestock applications.</a:t>
            </a:r>
            <a:endParaRPr sz="1800">
              <a:solidFill>
                <a:schemeClr val="dk1"/>
              </a:solidFill>
            </a:endParaRPr>
          </a:p>
          <a:p>
            <a:pPr indent="0" lvl="0" marL="0" marR="0" rtl="0" algn="l">
              <a:lnSpc>
                <a:spcPct val="150000"/>
              </a:lnSpc>
              <a:spcBef>
                <a:spcPts val="0"/>
              </a:spcBef>
              <a:spcAft>
                <a:spcPts val="0"/>
              </a:spcAft>
              <a:buNone/>
            </a:pPr>
            <a:r>
              <a:rPr lang="en-US" sz="1800">
                <a:solidFill>
                  <a:schemeClr val="dk1"/>
                </a:solidFill>
              </a:rPr>
              <a:t>However, most existing works lack:</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Multi-task learning approaches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Explainability mechanisms</a:t>
            </a:r>
            <a:endParaRPr sz="1800">
              <a:solidFill>
                <a:schemeClr val="dk1"/>
              </a:solidFill>
            </a:endParaRPr>
          </a:p>
          <a:p>
            <a:pPr indent="-342900" lvl="0" marL="457200" marR="0" rtl="0" algn="l">
              <a:lnSpc>
                <a:spcPct val="150000"/>
              </a:lnSpc>
              <a:spcBef>
                <a:spcPts val="0"/>
              </a:spcBef>
              <a:spcAft>
                <a:spcPts val="0"/>
              </a:spcAft>
              <a:buClr>
                <a:schemeClr val="dk1"/>
              </a:buClr>
              <a:buSzPts val="1800"/>
              <a:buAutoNum type="arabicPeriod"/>
            </a:pPr>
            <a:r>
              <a:rPr lang="en-US" sz="1800">
                <a:solidFill>
                  <a:schemeClr val="dk1"/>
                </a:solidFill>
              </a:rPr>
              <a:t>Comparative evaluation of multiple deep learning architectures</a:t>
            </a:r>
            <a:endParaRPr sz="1800">
              <a:solidFill>
                <a:schemeClr val="dk1"/>
              </a:solidFill>
            </a:endParaRPr>
          </a:p>
          <a:p>
            <a:pPr indent="0" lvl="0" marL="0" marR="0" rtl="0" algn="l">
              <a:lnSpc>
                <a:spcPct val="150000"/>
              </a:lnSpc>
              <a:spcBef>
                <a:spcPts val="0"/>
              </a:spcBef>
              <a:spcAft>
                <a:spcPts val="0"/>
              </a:spcAft>
              <a:buNone/>
            </a:pPr>
            <a:r>
              <a:rPr lang="en-US" sz="1800">
                <a:solidFill>
                  <a:schemeClr val="dk1"/>
                </a:solidFill>
              </a:rPr>
              <a:t>This project aims to bridge these gaps.</a:t>
            </a:r>
            <a:endParaRPr sz="1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183" name="Google Shape;183;p28"/>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80000"/>
              </a:lnSpc>
              <a:spcBef>
                <a:spcPts val="0"/>
              </a:spcBef>
              <a:spcAft>
                <a:spcPts val="0"/>
              </a:spcAft>
              <a:buClr>
                <a:schemeClr val="dk1"/>
              </a:buClr>
              <a:buSzPts val="1800"/>
              <a:buAutoNum type="arabicPeriod"/>
            </a:pPr>
            <a:r>
              <a:rPr lang="en-US" sz="1800">
                <a:solidFill>
                  <a:schemeClr val="dk1"/>
                </a:solidFill>
              </a:rPr>
              <a:t>Manual Livestock Identification and Measurement</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Relies on human experts to identify livestock breeds and measure physical traits such as weight, height, and body length using manual tools and visual inspection.</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Time-consuming and labor-intensive</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Prone to human error and subjectivity</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Causes stress to animals due to physical handling</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Not scalable for large herds or frequent monitoring</a:t>
            </a:r>
            <a:endParaRPr sz="1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189" name="Google Shape;189;p29"/>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80000"/>
              </a:lnSpc>
              <a:spcBef>
                <a:spcPts val="0"/>
              </a:spcBef>
              <a:spcAft>
                <a:spcPts val="0"/>
              </a:spcAft>
              <a:buClr>
                <a:schemeClr val="dk1"/>
              </a:buClr>
              <a:buSzPts val="1800"/>
              <a:buAutoNum type="arabicPeriod" startAt="2"/>
            </a:pPr>
            <a:r>
              <a:rPr lang="en-US" sz="1800">
                <a:solidFill>
                  <a:schemeClr val="dk1"/>
                </a:solidFill>
              </a:rPr>
              <a:t>Traditional Computer Vision with Handcrafted Features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Uses manually engineered visual features such as texture, color, and shape descriptors combined with classical machine learning classifiers for livestock breed recognition.</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Poor performance under varying lighting and background conditions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Limited ability to capture complex visual patterns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Requires extensive feature engineering</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Low robustness in real-world farm environments</a:t>
            </a:r>
            <a:endParaRPr sz="1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195" name="Google Shape;195;p30"/>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80000"/>
              </a:lnSpc>
              <a:spcBef>
                <a:spcPts val="0"/>
              </a:spcBef>
              <a:spcAft>
                <a:spcPts val="0"/>
              </a:spcAft>
              <a:buNone/>
            </a:pPr>
            <a:r>
              <a:rPr lang="en-US" sz="1800">
                <a:solidFill>
                  <a:schemeClr val="dk1"/>
                </a:solidFill>
              </a:rPr>
              <a:t>3.  Deep Learning-Based Livestock Breed Classification Systems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Applies convolutional neural networks with transfer learning to classify livestock breeds from images, achieving improved accuracy compared to traditional methods.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Focused solely on breed classification</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Does not estimate physical traits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Often trained on small or controlled datasets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Limited practical applicability for comprehensive livestock analysis</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201" name="Google Shape;201;p31"/>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80000"/>
              </a:lnSpc>
              <a:spcBef>
                <a:spcPts val="0"/>
              </a:spcBef>
              <a:spcAft>
                <a:spcPts val="0"/>
              </a:spcAft>
              <a:buNone/>
            </a:pPr>
            <a:r>
              <a:rPr lang="en-US" sz="1800">
                <a:solidFill>
                  <a:schemeClr val="dk1"/>
                </a:solidFill>
              </a:rPr>
              <a:t>4.  Image-Based Physical Trait and Weight Estimation Methods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Estimates livestock body weight and physical dimensions using 2D images, silhouettes, depth data, or 3D point clouds combined with regression models.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Requires controlled imaging setups or specialized sensors</a:t>
            </a:r>
            <a:endParaRPr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Sensitive to pose variation and occlusion</a:t>
            </a:r>
            <a:endParaRPr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Operates independently of breed identification</a:t>
            </a:r>
            <a:endParaRPr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Complex preprocessing pipelines increase system complexity</a:t>
            </a:r>
            <a:endParaRPr sz="1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207" name="Google Shape;207;p32"/>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80000"/>
              </a:lnSpc>
              <a:spcBef>
                <a:spcPts val="0"/>
              </a:spcBef>
              <a:spcAft>
                <a:spcPts val="0"/>
              </a:spcAft>
              <a:buNone/>
            </a:pPr>
            <a:r>
              <a:rPr lang="en-US" sz="1800">
                <a:solidFill>
                  <a:schemeClr val="dk1"/>
                </a:solidFill>
              </a:rPr>
              <a:t>5.  Segmentation and Keypoint-Based Livestock Measurement</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Employs instance segmentation or pose estimation techniques to extract anatomical landmarks and body contours for precise measurement of physical traits.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Computationally intensive</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Increased inference time</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Difficult to deploy on edge or mobile devices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Rarely implemented as end-to-end learning systems</a:t>
            </a:r>
            <a:endParaRPr sz="1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213" name="Google Shape;213;p33"/>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80000"/>
              </a:lnSpc>
              <a:spcBef>
                <a:spcPts val="0"/>
              </a:spcBef>
              <a:spcAft>
                <a:spcPts val="0"/>
              </a:spcAft>
              <a:buNone/>
            </a:pPr>
            <a:r>
              <a:rPr lang="en-US" sz="1800">
                <a:solidFill>
                  <a:schemeClr val="dk1"/>
                </a:solidFill>
              </a:rPr>
              <a:t>6.  Single-Task Learning Frameworks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Uses separate models to perform individual tasks such as breed classification or physical trait estimation.</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Redundant computation across models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Inefficient utilization of shared visual features</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Increased deployment and maintenance complexity</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Poor scalability for multi-objective livestock systems</a:t>
            </a:r>
            <a:endParaRPr sz="18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Existing Methods and Drawbacks</a:t>
            </a:r>
            <a:endParaRPr>
              <a:latin typeface="Cambria"/>
              <a:ea typeface="Cambria"/>
              <a:cs typeface="Cambria"/>
              <a:sym typeface="Cambria"/>
            </a:endParaRPr>
          </a:p>
        </p:txBody>
      </p:sp>
      <p:sp>
        <p:nvSpPr>
          <p:cNvPr id="219" name="Google Shape;219;p34"/>
          <p:cNvSpPr txBox="1"/>
          <p:nvPr/>
        </p:nvSpPr>
        <p:spPr>
          <a:xfrm>
            <a:off x="855250" y="943125"/>
            <a:ext cx="10583100" cy="4948800"/>
          </a:xfrm>
          <a:prstGeom prst="rect">
            <a:avLst/>
          </a:prstGeom>
          <a:noFill/>
          <a:ln>
            <a:noFill/>
          </a:ln>
        </p:spPr>
        <p:txBody>
          <a:bodyPr anchorCtr="0" anchor="t" bIns="91425" lIns="91425" spcFirstLastPara="1" rIns="91425" wrap="square" tIns="91425">
            <a:noAutofit/>
          </a:bodyPr>
          <a:lstStyle/>
          <a:p>
            <a:pPr indent="0" lvl="0" marL="0" marR="0" rtl="0" algn="l">
              <a:lnSpc>
                <a:spcPct val="180000"/>
              </a:lnSpc>
              <a:spcBef>
                <a:spcPts val="0"/>
              </a:spcBef>
              <a:spcAft>
                <a:spcPts val="0"/>
              </a:spcAft>
              <a:buNone/>
            </a:pPr>
            <a:r>
              <a:rPr lang="en-US" sz="1800">
                <a:solidFill>
                  <a:schemeClr val="dk1"/>
                </a:solidFill>
              </a:rPr>
              <a:t>7.  Lightweight and Edge-Deployable Livestock Vision Systems</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Description:</a:t>
            </a:r>
            <a:endParaRPr b="1" sz="1800">
              <a:solidFill>
                <a:schemeClr val="dk1"/>
              </a:solidFill>
            </a:endParaRPr>
          </a:p>
          <a:p>
            <a:pPr indent="0" lvl="0" marL="0" marR="0" rtl="0" algn="l">
              <a:lnSpc>
                <a:spcPct val="180000"/>
              </a:lnSpc>
              <a:spcBef>
                <a:spcPts val="0"/>
              </a:spcBef>
              <a:spcAft>
                <a:spcPts val="0"/>
              </a:spcAft>
              <a:buNone/>
            </a:pPr>
            <a:r>
              <a:rPr lang="en-US" sz="1800">
                <a:solidFill>
                  <a:schemeClr val="dk1"/>
                </a:solidFill>
              </a:rPr>
              <a:t>Utilizes lightweight CNN architectures to enable deployment on mobile or edge devices for on-farm usage.</a:t>
            </a:r>
            <a:endParaRPr sz="1800">
              <a:solidFill>
                <a:schemeClr val="dk1"/>
              </a:solidFill>
            </a:endParaRPr>
          </a:p>
          <a:p>
            <a:pPr indent="0" lvl="0" marL="0" marR="0" rtl="0" algn="l">
              <a:lnSpc>
                <a:spcPct val="180000"/>
              </a:lnSpc>
              <a:spcBef>
                <a:spcPts val="0"/>
              </a:spcBef>
              <a:spcAft>
                <a:spcPts val="0"/>
              </a:spcAft>
              <a:buNone/>
            </a:pPr>
            <a:r>
              <a:rPr b="1" lang="en-US" sz="1800">
                <a:solidFill>
                  <a:schemeClr val="dk1"/>
                </a:solidFill>
              </a:rPr>
              <a:t>Drawbacks:</a:t>
            </a:r>
            <a:endParaRPr b="1"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Trade-off between computational efficiency and accuracy</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Limited support for multi-task learning</a:t>
            </a:r>
            <a:endParaRPr sz="1800">
              <a:solidFill>
                <a:schemeClr val="dk1"/>
              </a:solidFill>
            </a:endParaRPr>
          </a:p>
          <a:p>
            <a:pPr indent="-342900" lvl="0" marL="457200" marR="0" rtl="0" algn="l">
              <a:lnSpc>
                <a:spcPct val="180000"/>
              </a:lnSpc>
              <a:spcBef>
                <a:spcPts val="0"/>
              </a:spcBef>
              <a:spcAft>
                <a:spcPts val="0"/>
              </a:spcAft>
              <a:buClr>
                <a:schemeClr val="dk1"/>
              </a:buClr>
              <a:buSzPts val="1800"/>
              <a:buChar char="●"/>
            </a:pPr>
            <a:r>
              <a:rPr lang="en-US" sz="1800">
                <a:solidFill>
                  <a:schemeClr val="dk1"/>
                </a:solidFill>
              </a:rPr>
              <a:t>Reduced robustness in complex real-world environments</a:t>
            </a:r>
            <a:endParaRPr sz="18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225" name="Google Shape;225;p35"/>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b="1" lang="en-US" sz="1800">
                <a:latin typeface="Arial"/>
                <a:ea typeface="Arial"/>
                <a:cs typeface="Arial"/>
                <a:sym typeface="Arial"/>
              </a:rPr>
              <a:t>Proposed Method: “Deep Learning-Based Computer Vision System for Livestock Analysis”</a:t>
            </a:r>
            <a:endParaRPr b="1" sz="1800">
              <a:latin typeface="Arial"/>
              <a:ea typeface="Arial"/>
              <a:cs typeface="Arial"/>
              <a:sym typeface="Arial"/>
            </a:endParaRPr>
          </a:p>
          <a:p>
            <a:pPr indent="0" lvl="0" marL="0" rtl="0" algn="l">
              <a:lnSpc>
                <a:spcPct val="150000"/>
              </a:lnSpc>
              <a:spcBef>
                <a:spcPts val="1200"/>
              </a:spcBef>
              <a:spcAft>
                <a:spcPts val="0"/>
              </a:spcAft>
              <a:buNone/>
            </a:pPr>
            <a:r>
              <a:rPr lang="en-US" sz="1800">
                <a:latin typeface="Arial"/>
                <a:ea typeface="Arial"/>
                <a:cs typeface="Arial"/>
                <a:sym typeface="Arial"/>
              </a:rPr>
              <a:t>The proposed solution is a deep learning-based computer vision system designed to automatically perform livestock breed classification and physical trait estimation from images in a non-contact and scalable manner. The system integrates transfer learning and multi-task learning to deliver a unified framework for comprehensive livestock assessment.</a:t>
            </a:r>
            <a:endParaRPr sz="1800">
              <a:latin typeface="Arial"/>
              <a:ea typeface="Arial"/>
              <a:cs typeface="Arial"/>
              <a:sym typeface="Arial"/>
            </a:endParaRPr>
          </a:p>
          <a:p>
            <a:pPr indent="-342900" lvl="0" marL="457200" rtl="0" algn="l">
              <a:lnSpc>
                <a:spcPct val="150000"/>
              </a:lnSpc>
              <a:spcBef>
                <a:spcPts val="1200"/>
              </a:spcBef>
              <a:spcAft>
                <a:spcPts val="0"/>
              </a:spcAft>
              <a:buSzPts val="1800"/>
              <a:buAutoNum type="arabicPeriod"/>
            </a:pPr>
            <a:r>
              <a:rPr b="1" lang="en-US" sz="1800">
                <a:latin typeface="Arial"/>
                <a:ea typeface="Arial"/>
                <a:cs typeface="Arial"/>
                <a:sym typeface="Arial"/>
              </a:rPr>
              <a:t>Image-Based Data Acquisition</a:t>
            </a:r>
            <a:endParaRPr b="1"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The system accepts RGB images of livestock captured using standard cameras or mobile devices in farm environments. Images may be collected from different viewpoints and lighting conditions to ensure real-world applicability.</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This approach eliminates the need for physical handling of animals and specialized sensing equipment, making the solution practical for on-farm deployment.</a:t>
            </a:r>
            <a:endParaRPr sz="18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231" name="Google Shape;231;p36"/>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342900" lvl="0" marL="457200" rtl="0" algn="l">
              <a:lnSpc>
                <a:spcPct val="150000"/>
              </a:lnSpc>
              <a:spcBef>
                <a:spcPts val="1200"/>
              </a:spcBef>
              <a:spcAft>
                <a:spcPts val="0"/>
              </a:spcAft>
              <a:buSzPts val="1800"/>
              <a:buFont typeface="Arial"/>
              <a:buAutoNum type="arabicPeriod" startAt="2"/>
            </a:pPr>
            <a:r>
              <a:rPr b="1" lang="en-US" sz="1800">
                <a:latin typeface="Arial"/>
                <a:ea typeface="Arial"/>
                <a:cs typeface="Arial"/>
                <a:sym typeface="Arial"/>
              </a:rPr>
              <a:t>Deep Feature Extraction Using Transfer Learning</a:t>
            </a:r>
            <a:endParaRPr b="1"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A pretrained convolutional neural network (e.g., ResNet or EfficientNet) is used as a feature extractor to learn high-level visual representations from livestock images.</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Transfer learning enables effective training even with limited labeled data while improving convergence speed and model generalization.</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startAt="3"/>
            </a:pPr>
            <a:r>
              <a:rPr b="1" lang="en-US" sz="1800">
                <a:latin typeface="Arial"/>
                <a:ea typeface="Arial"/>
                <a:cs typeface="Arial"/>
                <a:sym typeface="Arial"/>
              </a:rPr>
              <a:t>Multi-Task Learning Framework</a:t>
            </a:r>
            <a:endParaRPr b="1"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The system adopts a multi-task learning architecture in which shared visual features are jointly used for:</a:t>
            </a:r>
            <a:endParaRPr sz="1800">
              <a:latin typeface="Arial"/>
              <a:ea typeface="Arial"/>
              <a:cs typeface="Arial"/>
              <a:sym typeface="Arial"/>
            </a:endParaRPr>
          </a:p>
          <a:p>
            <a:pPr indent="-342900" lvl="1" marL="914400" rtl="0" algn="l">
              <a:lnSpc>
                <a:spcPct val="150000"/>
              </a:lnSpc>
              <a:spcBef>
                <a:spcPts val="0"/>
              </a:spcBef>
              <a:spcAft>
                <a:spcPts val="0"/>
              </a:spcAft>
              <a:buSzPts val="1800"/>
              <a:buFont typeface="Arial"/>
              <a:buChar char="–"/>
            </a:pPr>
            <a:r>
              <a:rPr lang="en-US" sz="1800">
                <a:latin typeface="Arial"/>
                <a:ea typeface="Arial"/>
                <a:cs typeface="Arial"/>
                <a:sym typeface="Arial"/>
              </a:rPr>
              <a:t>Breed classification using a softmax-based output layer</a:t>
            </a:r>
            <a:endParaRPr sz="1800">
              <a:latin typeface="Arial"/>
              <a:ea typeface="Arial"/>
              <a:cs typeface="Arial"/>
              <a:sym typeface="Arial"/>
            </a:endParaRPr>
          </a:p>
          <a:p>
            <a:pPr indent="-342900" lvl="1" marL="914400" rtl="0" algn="l">
              <a:lnSpc>
                <a:spcPct val="150000"/>
              </a:lnSpc>
              <a:spcBef>
                <a:spcPts val="0"/>
              </a:spcBef>
              <a:spcAft>
                <a:spcPts val="0"/>
              </a:spcAft>
              <a:buSzPts val="1800"/>
              <a:buFont typeface="Arial"/>
              <a:buChar char="–"/>
            </a:pPr>
            <a:r>
              <a:rPr lang="en-US" sz="1800">
                <a:latin typeface="Arial"/>
                <a:ea typeface="Arial"/>
                <a:cs typeface="Arial"/>
                <a:sym typeface="Arial"/>
              </a:rPr>
              <a:t>Physical trait estimation (body weight, height, and body length) using regression heads</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This unified framework reduces redundancy, improves computational efficiency, and leverages the inherent relationship between breed characteristics and physical traits.</a:t>
            </a:r>
            <a:endParaRPr sz="1800">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Proposed Method</a:t>
            </a:r>
            <a:endParaRPr>
              <a:latin typeface="Cambria"/>
              <a:ea typeface="Cambria"/>
              <a:cs typeface="Cambria"/>
              <a:sym typeface="Cambria"/>
            </a:endParaRPr>
          </a:p>
        </p:txBody>
      </p:sp>
      <p:sp>
        <p:nvSpPr>
          <p:cNvPr id="237" name="Google Shape;237;p37"/>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342900" lvl="0" marL="457200" rtl="0" algn="l">
              <a:lnSpc>
                <a:spcPct val="150000"/>
              </a:lnSpc>
              <a:spcBef>
                <a:spcPts val="1200"/>
              </a:spcBef>
              <a:spcAft>
                <a:spcPts val="0"/>
              </a:spcAft>
              <a:buSzPts val="1800"/>
              <a:buFont typeface="Arial"/>
              <a:buAutoNum type="arabicPeriod" startAt="4"/>
            </a:pPr>
            <a:r>
              <a:rPr b="1" lang="en-US" sz="1800">
                <a:latin typeface="Arial"/>
                <a:ea typeface="Arial"/>
                <a:cs typeface="Arial"/>
                <a:sym typeface="Arial"/>
              </a:rPr>
              <a:t>Model Training and Evaluation</a:t>
            </a:r>
            <a:endParaRPr b="1"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The model is trained on annotated livestock datasets using data augmentation to improve robustness against environmental variations. Performance is evaluated using standard classification and regression metrics such as accuracy, precision, MAE, and RMSE.</a:t>
            </a:r>
            <a:endParaRPr sz="1800">
              <a:latin typeface="Arial"/>
              <a:ea typeface="Arial"/>
              <a:cs typeface="Arial"/>
              <a:sym typeface="Arial"/>
            </a:endParaRPr>
          </a:p>
          <a:p>
            <a:pPr indent="-342900" lvl="0" marL="457200" rtl="0" algn="l">
              <a:lnSpc>
                <a:spcPct val="150000"/>
              </a:lnSpc>
              <a:spcBef>
                <a:spcPts val="0"/>
              </a:spcBef>
              <a:spcAft>
                <a:spcPts val="0"/>
              </a:spcAft>
              <a:buSzPts val="1800"/>
              <a:buAutoNum type="arabicPeriod" startAt="5"/>
            </a:pPr>
            <a:r>
              <a:rPr b="1" lang="en-US" sz="1800">
                <a:latin typeface="Arial"/>
                <a:ea typeface="Arial"/>
                <a:cs typeface="Arial"/>
                <a:sym typeface="Arial"/>
              </a:rPr>
              <a:t>Deployment and User Interaction</a:t>
            </a:r>
            <a:endParaRPr b="1" sz="1800">
              <a:latin typeface="Arial"/>
              <a:ea typeface="Arial"/>
              <a:cs typeface="Arial"/>
              <a:sym typeface="Arial"/>
            </a:endParaRPr>
          </a:p>
          <a:p>
            <a:pPr indent="-342900" lvl="0" marL="457200" rtl="0" algn="l">
              <a:lnSpc>
                <a:spcPct val="150000"/>
              </a:lnSpc>
              <a:spcBef>
                <a:spcPts val="0"/>
              </a:spcBef>
              <a:spcAft>
                <a:spcPts val="0"/>
              </a:spcAft>
              <a:buSzPts val="1800"/>
              <a:buFont typeface="Arial"/>
              <a:buChar char="•"/>
            </a:pPr>
            <a:r>
              <a:rPr lang="en-US" sz="1800">
                <a:latin typeface="Arial"/>
                <a:ea typeface="Arial"/>
                <a:cs typeface="Arial"/>
                <a:sym typeface="Arial"/>
              </a:rPr>
              <a:t>The trained model is deployed through a lightweight inference pipeline that allows users to upload livestock images via a web or mobile interface and receive real-time predictions.</a:t>
            </a:r>
            <a:endParaRPr sz="180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43" name="Google Shape;243;p38"/>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b="1" lang="en-US" sz="1800">
                <a:latin typeface="Arial"/>
                <a:ea typeface="Arial"/>
                <a:cs typeface="Arial"/>
                <a:sym typeface="Arial"/>
              </a:rPr>
              <a:t>Technical Feasibility</a:t>
            </a:r>
            <a:endParaRPr b="1" sz="1800">
              <a:latin typeface="Arial"/>
              <a:ea typeface="Arial"/>
              <a:cs typeface="Arial"/>
              <a:sym typeface="Arial"/>
            </a:endParaRPr>
          </a:p>
          <a:p>
            <a:pPr indent="0" lvl="0" marL="0" rtl="0" algn="l">
              <a:lnSpc>
                <a:spcPct val="150000"/>
              </a:lnSpc>
              <a:spcBef>
                <a:spcPts val="1200"/>
              </a:spcBef>
              <a:spcAft>
                <a:spcPts val="0"/>
              </a:spcAft>
              <a:buNone/>
            </a:pPr>
            <a:r>
              <a:rPr lang="en-US" sz="1800">
                <a:latin typeface="Arial"/>
                <a:ea typeface="Arial"/>
                <a:cs typeface="Arial"/>
                <a:sym typeface="Arial"/>
              </a:rPr>
              <a:t>The proposed system leverages mature and widely adopted deep learning frameworks such as TensorFlow or PyTorch, along with </a:t>
            </a:r>
            <a:r>
              <a:rPr lang="en-US" sz="1800">
                <a:latin typeface="Arial"/>
                <a:ea typeface="Arial"/>
                <a:cs typeface="Arial"/>
                <a:sym typeface="Arial"/>
              </a:rPr>
              <a:t>pre trained</a:t>
            </a:r>
            <a:r>
              <a:rPr lang="en-US" sz="1800">
                <a:latin typeface="Arial"/>
                <a:ea typeface="Arial"/>
                <a:cs typeface="Arial"/>
                <a:sym typeface="Arial"/>
              </a:rPr>
              <a:t> CNN models. The architecture is compatible with standard GPUs and can be optimized for edge deployment using model compression techniques, making it technically feasible for real-world applications.</a:t>
            </a:r>
            <a:endParaRPr sz="1800">
              <a:latin typeface="Arial"/>
              <a:ea typeface="Arial"/>
              <a:cs typeface="Arial"/>
              <a:sym typeface="Arial"/>
            </a:endParaRPr>
          </a:p>
          <a:p>
            <a:pPr indent="0" lvl="0" marL="0" rtl="0" algn="l">
              <a:lnSpc>
                <a:spcPct val="150000"/>
              </a:lnSpc>
              <a:spcBef>
                <a:spcPts val="1200"/>
              </a:spcBef>
              <a:spcAft>
                <a:spcPts val="0"/>
              </a:spcAft>
              <a:buNone/>
            </a:pPr>
            <a:r>
              <a:rPr b="1" lang="en-US" sz="1800">
                <a:latin typeface="Arial"/>
                <a:ea typeface="Arial"/>
                <a:cs typeface="Arial"/>
                <a:sym typeface="Arial"/>
              </a:rPr>
              <a:t>Economic Feasibility</a:t>
            </a:r>
            <a:endParaRPr b="1" sz="1800">
              <a:latin typeface="Arial"/>
              <a:ea typeface="Arial"/>
              <a:cs typeface="Arial"/>
              <a:sym typeface="Arial"/>
            </a:endParaRPr>
          </a:p>
          <a:p>
            <a:pPr indent="0" lvl="0" marL="0" rtl="0" algn="l">
              <a:lnSpc>
                <a:spcPct val="150000"/>
              </a:lnSpc>
              <a:spcBef>
                <a:spcPts val="1200"/>
              </a:spcBef>
              <a:spcAft>
                <a:spcPts val="1200"/>
              </a:spcAft>
              <a:buNone/>
            </a:pPr>
            <a:r>
              <a:rPr lang="en-US" sz="1800">
                <a:latin typeface="Arial"/>
                <a:ea typeface="Arial"/>
                <a:cs typeface="Arial"/>
                <a:sym typeface="Arial"/>
              </a:rPr>
              <a:t>The solution relies on open-source tools and publicly available datasets, significantly reducing development costs. Since the system operates using standard cameras or smartphones, there is no requirement for expensive hardware such as depth sensors or weighing equipment, ensuring cost-effectiveness for farmers and institutions.</a:t>
            </a:r>
            <a:endParaRPr sz="180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49" name="Google Shape;249;p39"/>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b="1" lang="en-US" sz="1800">
                <a:latin typeface="Arial"/>
                <a:ea typeface="Arial"/>
                <a:cs typeface="Arial"/>
                <a:sym typeface="Arial"/>
              </a:rPr>
              <a:t>Resource Feasibility</a:t>
            </a:r>
            <a:endParaRPr b="1" sz="1800">
              <a:latin typeface="Arial"/>
              <a:ea typeface="Arial"/>
              <a:cs typeface="Arial"/>
              <a:sym typeface="Arial"/>
            </a:endParaRPr>
          </a:p>
          <a:p>
            <a:pPr indent="0" lvl="0" marL="0" rtl="0" algn="l">
              <a:lnSpc>
                <a:spcPct val="150000"/>
              </a:lnSpc>
              <a:spcBef>
                <a:spcPts val="1200"/>
              </a:spcBef>
              <a:spcAft>
                <a:spcPts val="0"/>
              </a:spcAft>
              <a:buNone/>
            </a:pPr>
            <a:r>
              <a:rPr lang="en-US" sz="1800">
                <a:latin typeface="Arial"/>
                <a:ea typeface="Arial"/>
                <a:cs typeface="Arial"/>
                <a:sym typeface="Arial"/>
              </a:rPr>
              <a:t>The project can be developed using commonly available computational resources such as cloud-based GPUs (e.g., Google Colab) and modest local systems. Human resource requirements are limited to basic expertise in machine learning and computer vision, making the project feasible within academic and institutional constraints.</a:t>
            </a:r>
            <a:endParaRPr sz="1800">
              <a:latin typeface="Arial"/>
              <a:ea typeface="Arial"/>
              <a:cs typeface="Arial"/>
              <a:sym typeface="Arial"/>
            </a:endParaRPr>
          </a:p>
          <a:p>
            <a:pPr indent="0" lvl="0" marL="0" rtl="0" algn="l">
              <a:lnSpc>
                <a:spcPct val="150000"/>
              </a:lnSpc>
              <a:spcBef>
                <a:spcPts val="1200"/>
              </a:spcBef>
              <a:spcAft>
                <a:spcPts val="0"/>
              </a:spcAft>
              <a:buNone/>
            </a:pPr>
            <a:r>
              <a:rPr b="1" lang="en-US" sz="1800">
                <a:latin typeface="Arial"/>
                <a:ea typeface="Arial"/>
                <a:cs typeface="Arial"/>
                <a:sym typeface="Arial"/>
              </a:rPr>
              <a:t>Operational Feasibility</a:t>
            </a:r>
            <a:endParaRPr b="1" sz="1800">
              <a:latin typeface="Arial"/>
              <a:ea typeface="Arial"/>
              <a:cs typeface="Arial"/>
              <a:sym typeface="Arial"/>
            </a:endParaRPr>
          </a:p>
          <a:p>
            <a:pPr indent="0" lvl="0" marL="0" rtl="0" algn="l">
              <a:lnSpc>
                <a:spcPct val="150000"/>
              </a:lnSpc>
              <a:spcBef>
                <a:spcPts val="1200"/>
              </a:spcBef>
              <a:spcAft>
                <a:spcPts val="1200"/>
              </a:spcAft>
              <a:buNone/>
            </a:pPr>
            <a:r>
              <a:rPr lang="en-US" sz="1800">
                <a:latin typeface="Arial"/>
                <a:ea typeface="Arial"/>
                <a:cs typeface="Arial"/>
                <a:sym typeface="Arial"/>
              </a:rPr>
              <a:t>The system is designed to integrate seamlessly into existing farm workflows without disrupting daily operations. Its non-invasive nature and ease of use promote adoption by farmers, agricultural organizations, and livestock management agencies.</a:t>
            </a:r>
            <a:endParaRPr sz="18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Feasibility Study</a:t>
            </a:r>
            <a:endParaRPr>
              <a:latin typeface="Cambria"/>
              <a:ea typeface="Cambria"/>
              <a:cs typeface="Cambria"/>
              <a:sym typeface="Cambria"/>
            </a:endParaRPr>
          </a:p>
        </p:txBody>
      </p:sp>
      <p:sp>
        <p:nvSpPr>
          <p:cNvPr id="255" name="Google Shape;255;p40"/>
          <p:cNvSpPr txBox="1"/>
          <p:nvPr>
            <p:ph idx="1" type="body"/>
          </p:nvPr>
        </p:nvSpPr>
        <p:spPr>
          <a:xfrm>
            <a:off x="620294" y="1110917"/>
            <a:ext cx="10668000" cy="49530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1200"/>
              </a:spcBef>
              <a:spcAft>
                <a:spcPts val="0"/>
              </a:spcAft>
              <a:buNone/>
            </a:pPr>
            <a:r>
              <a:rPr b="1" lang="en-US" sz="1800">
                <a:latin typeface="Arial"/>
                <a:ea typeface="Arial"/>
                <a:cs typeface="Arial"/>
                <a:sym typeface="Arial"/>
              </a:rPr>
              <a:t>Conclusion</a:t>
            </a:r>
            <a:endParaRPr b="1" sz="1800">
              <a:latin typeface="Arial"/>
              <a:ea typeface="Arial"/>
              <a:cs typeface="Arial"/>
              <a:sym typeface="Arial"/>
            </a:endParaRPr>
          </a:p>
          <a:p>
            <a:pPr indent="0" lvl="0" marL="0" rtl="0" algn="l">
              <a:lnSpc>
                <a:spcPct val="150000"/>
              </a:lnSpc>
              <a:spcBef>
                <a:spcPts val="1200"/>
              </a:spcBef>
              <a:spcAft>
                <a:spcPts val="1200"/>
              </a:spcAft>
              <a:buNone/>
            </a:pPr>
            <a:r>
              <a:rPr lang="en-US" sz="1800">
                <a:latin typeface="Arial"/>
                <a:ea typeface="Arial"/>
                <a:cs typeface="Arial"/>
                <a:sym typeface="Arial"/>
              </a:rPr>
              <a:t>The proposed deep learning-based livestock analysis system is technically sound, economically viable, and operationally practical. By combining breed classification and physical trait estimation within a single multi-task framework, the solution addresses key limitations of existing methods while offering a scalable and farmer-friendly approach to intelligent livestock management.</a:t>
            </a:r>
            <a:endParaRPr sz="1800">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261" name="Google Shape;261;p41" title="WhatsApp Image 2026-04-23 at 17.31.40.jpeg"/>
          <p:cNvPicPr preferRelativeResize="0"/>
          <p:nvPr/>
        </p:nvPicPr>
        <p:blipFill rotWithShape="1">
          <a:blip r:embed="rId3">
            <a:alphaModFix/>
          </a:blip>
          <a:srcRect b="18073" l="0" r="0" t="0"/>
          <a:stretch/>
        </p:blipFill>
        <p:spPr>
          <a:xfrm>
            <a:off x="1474700" y="1172273"/>
            <a:ext cx="8686598" cy="47444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sp>
        <p:nvSpPr>
          <p:cNvPr id="267" name="Google Shape;267;p42"/>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1. Image Acquisition Module</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 </a:t>
            </a:r>
            <a:r>
              <a:rPr lang="en-US" sz="1800">
                <a:solidFill>
                  <a:schemeClr val="dk1"/>
                </a:solidFill>
              </a:rPr>
              <a:t>Captures or accepts livestock images through cameras, mobile devices, or file uploads.</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 </a:t>
            </a:r>
            <a:r>
              <a:rPr lang="en-US" sz="1800">
                <a:solidFill>
                  <a:schemeClr val="dk1"/>
                </a:solidFill>
              </a:rPr>
              <a:t>Raw livestock image input for analysis.</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2. Data Preprocessing Module</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a:t>
            </a:r>
            <a:r>
              <a:rPr lang="en-US" sz="1800">
                <a:solidFill>
                  <a:schemeClr val="dk1"/>
                </a:solidFill>
              </a:rPr>
              <a:t>: Performs image resizing, normalization, and basic augmentation to improve robustness against environmental variations.</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 </a:t>
            </a:r>
            <a:r>
              <a:rPr lang="en-US" sz="1800">
                <a:solidFill>
                  <a:schemeClr val="dk1"/>
                </a:solidFill>
              </a:rPr>
              <a:t>Standardized images ready for model processing.</a:t>
            </a:r>
            <a:endParaRPr sz="1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sp>
        <p:nvSpPr>
          <p:cNvPr id="273" name="Google Shape;273;p43"/>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3. Feature Extraction Module</a:t>
            </a:r>
            <a:endParaRPr b="1"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 </a:t>
            </a:r>
            <a:r>
              <a:rPr lang="en-US" sz="1800">
                <a:solidFill>
                  <a:schemeClr val="dk1"/>
                </a:solidFill>
              </a:rPr>
              <a:t>Uses a pretrained convolutional neural network with transfer learning to extract high-level visual features from livestock images.</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 </a:t>
            </a:r>
            <a:r>
              <a:rPr lang="en-US" sz="1800">
                <a:solidFill>
                  <a:schemeClr val="dk1"/>
                </a:solidFill>
              </a:rPr>
              <a:t>Discriminative feature representations for multiple tasks.</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4. Multi-Task Learning Module</a:t>
            </a:r>
            <a:endParaRPr b="1"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a:t>
            </a:r>
            <a:r>
              <a:rPr lang="en-US" sz="1800">
                <a:solidFill>
                  <a:schemeClr val="dk1"/>
                </a:solidFill>
              </a:rPr>
              <a:t> Implements a unified deep learning framework with shared features and task-specific output heads for:</a:t>
            </a:r>
            <a:endParaRPr sz="1800">
              <a:solidFill>
                <a:schemeClr val="dk1"/>
              </a:solidFill>
            </a:endParaRPr>
          </a:p>
          <a:p>
            <a:pPr indent="-342900" lvl="0" marL="457200" rtl="0" algn="l">
              <a:lnSpc>
                <a:spcPct val="180000"/>
              </a:lnSpc>
              <a:spcBef>
                <a:spcPts val="0"/>
              </a:spcBef>
              <a:spcAft>
                <a:spcPts val="0"/>
              </a:spcAft>
              <a:buClr>
                <a:schemeClr val="dk1"/>
              </a:buClr>
              <a:buSzPts val="1800"/>
              <a:buChar char="●"/>
            </a:pPr>
            <a:r>
              <a:rPr lang="en-US" sz="1800">
                <a:solidFill>
                  <a:schemeClr val="dk1"/>
                </a:solidFill>
              </a:rPr>
              <a:t>Breed classification</a:t>
            </a:r>
            <a:endParaRPr sz="1800">
              <a:solidFill>
                <a:schemeClr val="dk1"/>
              </a:solidFill>
            </a:endParaRPr>
          </a:p>
          <a:p>
            <a:pPr indent="-342900" lvl="0" marL="457200" rtl="0" algn="l">
              <a:lnSpc>
                <a:spcPct val="180000"/>
              </a:lnSpc>
              <a:spcBef>
                <a:spcPts val="0"/>
              </a:spcBef>
              <a:spcAft>
                <a:spcPts val="0"/>
              </a:spcAft>
              <a:buClr>
                <a:schemeClr val="dk1"/>
              </a:buClr>
              <a:buSzPts val="1800"/>
              <a:buChar char="●"/>
            </a:pPr>
            <a:r>
              <a:rPr lang="en-US" sz="1800">
                <a:solidFill>
                  <a:schemeClr val="dk1"/>
                </a:solidFill>
              </a:rPr>
              <a:t>Physical trait estimation</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a:t>
            </a:r>
            <a:r>
              <a:rPr lang="en-US" sz="1800">
                <a:solidFill>
                  <a:schemeClr val="dk1"/>
                </a:solidFill>
              </a:rPr>
              <a:t> Joint learning and prediction of multiple livestock attributes.</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sp>
        <p:nvSpPr>
          <p:cNvPr id="279" name="Google Shape;279;p44"/>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None/>
            </a:pPr>
            <a:r>
              <a:rPr b="1" lang="en-US" sz="1800">
                <a:solidFill>
                  <a:schemeClr val="dk1"/>
                </a:solidFill>
              </a:rPr>
              <a:t>5. Breed Classification Module</a:t>
            </a:r>
            <a:endParaRPr b="1"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 </a:t>
            </a:r>
            <a:r>
              <a:rPr lang="en-US" sz="1800">
                <a:solidFill>
                  <a:schemeClr val="dk1"/>
                </a:solidFill>
              </a:rPr>
              <a:t>Classifies livestock images into predefined breed categories using a softmax-based output layer.</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 </a:t>
            </a:r>
            <a:r>
              <a:rPr lang="en-US" sz="1800">
                <a:solidFill>
                  <a:schemeClr val="dk1"/>
                </a:solidFill>
              </a:rPr>
              <a:t>Predicted livestock breed.</a:t>
            </a:r>
            <a:endParaRPr sz="1800">
              <a:solidFill>
                <a:schemeClr val="dk1"/>
              </a:solidFill>
            </a:endParaRPr>
          </a:p>
          <a:p>
            <a:pPr indent="0" lvl="0" marL="0" rtl="0" algn="l">
              <a:lnSpc>
                <a:spcPct val="180000"/>
              </a:lnSpc>
              <a:spcBef>
                <a:spcPts val="0"/>
              </a:spcBef>
              <a:spcAft>
                <a:spcPts val="0"/>
              </a:spcAft>
              <a:buNone/>
            </a:pPr>
            <a:r>
              <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6. Physical Trait Estimation Module</a:t>
            </a:r>
            <a:endParaRPr b="1"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a:t>
            </a:r>
            <a:r>
              <a:rPr lang="en-US" sz="1800">
                <a:solidFill>
                  <a:schemeClr val="dk1"/>
                </a:solidFill>
              </a:rPr>
              <a:t> Estimates key physical traits such as body weight, height, and body length using regression-based outputs.</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 </a:t>
            </a:r>
            <a:r>
              <a:rPr lang="en-US" sz="1800">
                <a:solidFill>
                  <a:schemeClr val="dk1"/>
                </a:solidFill>
              </a:rPr>
              <a:t>Quantitative trait predictions.</a:t>
            </a:r>
            <a:endParaRPr sz="1800">
              <a:solidFill>
                <a:schemeClr val="dk1"/>
              </a:solidFill>
            </a:endParaRPr>
          </a:p>
          <a:p>
            <a:pPr indent="0" lvl="0" marL="0" rtl="0" algn="l">
              <a:lnSpc>
                <a:spcPct val="180000"/>
              </a:lnSpc>
              <a:spcBef>
                <a:spcPts val="0"/>
              </a:spcBef>
              <a:spcAft>
                <a:spcPts val="0"/>
              </a:spcAft>
              <a:buNone/>
            </a:pPr>
            <a:r>
              <a:t/>
            </a:r>
            <a:endParaRPr b="1" sz="18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Modules</a:t>
            </a:r>
            <a:endParaRPr>
              <a:latin typeface="Cambria"/>
              <a:ea typeface="Cambria"/>
              <a:cs typeface="Cambria"/>
              <a:sym typeface="Cambria"/>
            </a:endParaRPr>
          </a:p>
        </p:txBody>
      </p:sp>
      <p:sp>
        <p:nvSpPr>
          <p:cNvPr id="285" name="Google Shape;285;p45"/>
          <p:cNvSpPr txBox="1"/>
          <p:nvPr/>
        </p:nvSpPr>
        <p:spPr>
          <a:xfrm>
            <a:off x="812800" y="1167150"/>
            <a:ext cx="10668000" cy="49101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Clr>
                <a:schemeClr val="dk1"/>
              </a:buClr>
              <a:buSzPts val="1100"/>
              <a:buFont typeface="Arial"/>
              <a:buNone/>
            </a:pPr>
            <a:r>
              <a:rPr b="1" lang="en-US" sz="1800">
                <a:solidFill>
                  <a:schemeClr val="dk1"/>
                </a:solidFill>
              </a:rPr>
              <a:t>7. Model Training &amp; Evaluation Module</a:t>
            </a:r>
            <a:endParaRPr b="1"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b="1" lang="en-US" sz="1800">
                <a:solidFill>
                  <a:schemeClr val="dk1"/>
                </a:solidFill>
              </a:rPr>
              <a:t>Functionality:</a:t>
            </a:r>
            <a:r>
              <a:rPr lang="en-US" sz="1800">
                <a:solidFill>
                  <a:schemeClr val="dk1"/>
                </a:solidFill>
              </a:rPr>
              <a:t> Trains the model using annotated datasets and evaluates performance using classification and regression metrics.</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Outcome: </a:t>
            </a:r>
            <a:r>
              <a:rPr lang="en-US" sz="1800">
                <a:solidFill>
                  <a:schemeClr val="dk1"/>
                </a:solidFill>
              </a:rPr>
              <a:t>Validated and optimized deep learning model.</a:t>
            </a:r>
            <a:endParaRPr sz="1800">
              <a:solidFill>
                <a:schemeClr val="dk1"/>
              </a:solidFill>
            </a:endParaRPr>
          </a:p>
          <a:p>
            <a:pPr indent="0" lvl="0" marL="0" rtl="0" algn="l">
              <a:lnSpc>
                <a:spcPct val="180000"/>
              </a:lnSpc>
              <a:spcBef>
                <a:spcPts val="0"/>
              </a:spcBef>
              <a:spcAft>
                <a:spcPts val="0"/>
              </a:spcAft>
              <a:buNone/>
            </a:pPr>
            <a:r>
              <a:rPr b="1" lang="en-US" sz="1800">
                <a:solidFill>
                  <a:schemeClr val="dk1"/>
                </a:solidFill>
              </a:rPr>
              <a:t>8. Deployment &amp; Inference Module</a:t>
            </a:r>
            <a:endParaRPr b="1" sz="1800">
              <a:solidFill>
                <a:schemeClr val="dk1"/>
              </a:solidFill>
            </a:endParaRPr>
          </a:p>
          <a:p>
            <a:pPr indent="0" lvl="0" marL="0" rtl="0" algn="l">
              <a:lnSpc>
                <a:spcPct val="180000"/>
              </a:lnSpc>
              <a:spcBef>
                <a:spcPts val="0"/>
              </a:spcBef>
              <a:spcAft>
                <a:spcPts val="0"/>
              </a:spcAft>
              <a:buNone/>
            </a:pPr>
            <a:r>
              <a:rPr b="1" lang="en-US" sz="1800">
                <a:solidFill>
                  <a:schemeClr val="dk1"/>
                </a:solidFill>
              </a:rPr>
              <a:t>Functionality:</a:t>
            </a:r>
            <a:r>
              <a:rPr lang="en-US" sz="1800">
                <a:solidFill>
                  <a:schemeClr val="dk1"/>
                </a:solidFill>
              </a:rPr>
              <a:t> Deploys the trained model for real-time inference through APIs or user interfaces.</a:t>
            </a:r>
            <a:endParaRPr sz="1800">
              <a:solidFill>
                <a:schemeClr val="dk1"/>
              </a:solidFill>
            </a:endParaRPr>
          </a:p>
          <a:p>
            <a:pPr indent="0" lvl="0" marL="0" rtl="0" algn="l">
              <a:lnSpc>
                <a:spcPct val="180000"/>
              </a:lnSpc>
              <a:spcBef>
                <a:spcPts val="0"/>
              </a:spcBef>
              <a:spcAft>
                <a:spcPts val="0"/>
              </a:spcAft>
              <a:buClr>
                <a:schemeClr val="dk1"/>
              </a:buClr>
              <a:buSzPts val="1100"/>
              <a:buFont typeface="Arial"/>
              <a:buNone/>
            </a:pPr>
            <a:r>
              <a:rPr b="1" lang="en-US" sz="1800">
                <a:solidFill>
                  <a:schemeClr val="dk1"/>
                </a:solidFill>
              </a:rPr>
              <a:t>Outcome:</a:t>
            </a:r>
            <a:r>
              <a:rPr lang="en-US" sz="1800">
                <a:solidFill>
                  <a:schemeClr val="dk1"/>
                </a:solidFill>
              </a:rPr>
              <a:t> End-user access to predictions via web or mobile platforms.</a:t>
            </a:r>
            <a:endParaRPr sz="1800">
              <a:solidFill>
                <a:schemeClr val="dk1"/>
              </a:solidFill>
            </a:endParaRPr>
          </a:p>
          <a:p>
            <a:pPr indent="0" lvl="0" marL="0" rtl="0" algn="l">
              <a:lnSpc>
                <a:spcPct val="180000"/>
              </a:lnSpc>
              <a:spcBef>
                <a:spcPts val="0"/>
              </a:spcBef>
              <a:spcAft>
                <a:spcPts val="0"/>
              </a:spcAft>
              <a:buNone/>
            </a:pPr>
            <a:r>
              <a:t/>
            </a:r>
            <a:endParaRPr b="1" sz="18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a:t>
            </a:r>
            <a:endParaRPr/>
          </a:p>
        </p:txBody>
      </p:sp>
      <p:sp>
        <p:nvSpPr>
          <p:cNvPr id="291" name="Google Shape;291;p46"/>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None/>
            </a:pPr>
            <a:r>
              <a:rPr b="1" lang="en-US" sz="1800" u="sng">
                <a:latin typeface="Arial"/>
                <a:ea typeface="Arial"/>
                <a:cs typeface="Arial"/>
                <a:sym typeface="Arial"/>
              </a:rPr>
              <a:t>Technology Stack Components:</a:t>
            </a:r>
            <a:endParaRPr sz="1800" u="sng">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Machine Learning &amp; Computer Vision</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Python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Deep Learning Framework: PyTorch / TensorFlow</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CNN Architectures: ResNet, EfficientNet, MobileNet</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OpenCV for image preprocessing</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Backend</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FastAPI for inference APIs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RESTful services</a:t>
            </a:r>
            <a:endParaRPr sz="1800">
              <a:latin typeface="Arial"/>
              <a:ea typeface="Arial"/>
              <a:cs typeface="Arial"/>
              <a:sym typeface="Arial"/>
            </a:endParaRPr>
          </a:p>
          <a:p>
            <a:pPr indent="0" lvl="0" marL="0" rtl="0" algn="just">
              <a:lnSpc>
                <a:spcPct val="150000"/>
              </a:lnSpc>
              <a:spcBef>
                <a:spcPts val="0"/>
              </a:spcBef>
              <a:spcAft>
                <a:spcPts val="0"/>
              </a:spcAft>
              <a:buNone/>
            </a:pPr>
            <a:r>
              <a:rPr b="1" lang="en-US" sz="1800">
                <a:latin typeface="Arial"/>
                <a:ea typeface="Arial"/>
                <a:cs typeface="Arial"/>
                <a:sym typeface="Arial"/>
              </a:rPr>
              <a:t>Deployment &amp; Tools</a:t>
            </a:r>
            <a:endParaRPr b="1"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Docker for containerization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Char char="•"/>
            </a:pPr>
            <a:r>
              <a:rPr lang="en-US" sz="1800">
                <a:latin typeface="Arial"/>
                <a:ea typeface="Arial"/>
                <a:cs typeface="Arial"/>
                <a:sym typeface="Arial"/>
              </a:rPr>
              <a:t>Git/GitHub for version control</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a:p>
            <a:pPr indent="0" lvl="0" marL="0" rtl="0" algn="just">
              <a:lnSpc>
                <a:spcPct val="150000"/>
              </a:lnSpc>
              <a:spcBef>
                <a:spcPts val="0"/>
              </a:spcBef>
              <a:spcAft>
                <a:spcPts val="0"/>
              </a:spcAft>
              <a:buNone/>
            </a:pPr>
            <a:r>
              <a:t/>
            </a:r>
            <a:endParaRPr sz="1800">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297" name="Google Shape;297;p47"/>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200000"/>
              </a:lnSpc>
              <a:spcBef>
                <a:spcPts val="0"/>
              </a:spcBef>
              <a:spcAft>
                <a:spcPts val="0"/>
              </a:spcAft>
              <a:buClr>
                <a:schemeClr val="dk1"/>
              </a:buClr>
              <a:buSzPts val="2400"/>
              <a:buNone/>
            </a:pPr>
            <a:r>
              <a:rPr b="1" lang="en-US" sz="1800" u="sng">
                <a:latin typeface="Arial"/>
                <a:ea typeface="Arial"/>
                <a:cs typeface="Arial"/>
                <a:sym typeface="Arial"/>
              </a:rPr>
              <a:t>Software and Hardware Requirements</a:t>
            </a:r>
            <a:r>
              <a:rPr b="1" lang="en-US" sz="1800" u="sng">
                <a:latin typeface="Arial"/>
                <a:ea typeface="Arial"/>
                <a:cs typeface="Arial"/>
                <a:sym typeface="Arial"/>
              </a:rPr>
              <a:t>:</a:t>
            </a:r>
            <a:r>
              <a:rPr lang="en-US" sz="1800" u="sng">
                <a:latin typeface="Arial"/>
                <a:ea typeface="Arial"/>
                <a:cs typeface="Arial"/>
                <a:sym typeface="Arial"/>
              </a:rPr>
              <a:t> </a:t>
            </a:r>
            <a:endParaRPr sz="1800" u="sng">
              <a:latin typeface="Arial"/>
              <a:ea typeface="Arial"/>
              <a:cs typeface="Arial"/>
              <a:sym typeface="Arial"/>
            </a:endParaRPr>
          </a:p>
          <a:p>
            <a:pPr indent="-190500" lvl="0" marL="342900" rtl="0" algn="just">
              <a:lnSpc>
                <a:spcPct val="135000"/>
              </a:lnSpc>
              <a:spcBef>
                <a:spcPts val="0"/>
              </a:spcBef>
              <a:spcAft>
                <a:spcPts val="0"/>
              </a:spcAft>
              <a:buClr>
                <a:schemeClr val="dk1"/>
              </a:buClr>
              <a:buSzPts val="2400"/>
              <a:buNone/>
            </a:pPr>
            <a:r>
              <a:rPr lang="en-US" sz="1800">
                <a:latin typeface="Arial"/>
                <a:ea typeface="Arial"/>
                <a:cs typeface="Arial"/>
                <a:sym typeface="Arial"/>
              </a:rPr>
              <a:t>		</a:t>
            </a:r>
            <a:r>
              <a:rPr b="1" lang="en-US" sz="1800">
                <a:latin typeface="Arial"/>
                <a:ea typeface="Arial"/>
                <a:cs typeface="Arial"/>
                <a:sym typeface="Arial"/>
              </a:rPr>
              <a:t>Software: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a:t>
            </a:r>
            <a:r>
              <a:rPr lang="en-US" sz="1800">
                <a:latin typeface="Arial"/>
                <a:ea typeface="Arial"/>
                <a:cs typeface="Arial"/>
                <a:sym typeface="Arial"/>
              </a:rPr>
              <a:t>perating System: Windows / Linux</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Python 3.x</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PyTorch / TensorFlow</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OpenCV</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FastAPI</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Docker</a:t>
            </a:r>
            <a:endParaRPr sz="1800">
              <a:latin typeface="Arial"/>
              <a:ea typeface="Arial"/>
              <a:cs typeface="Arial"/>
              <a:sym typeface="Arial"/>
            </a:endParaRPr>
          </a:p>
          <a:p>
            <a:pPr indent="0" lvl="0" marL="457200" rtl="0" algn="just">
              <a:lnSpc>
                <a:spcPct val="135000"/>
              </a:lnSpc>
              <a:spcBef>
                <a:spcPts val="0"/>
              </a:spcBef>
              <a:spcAft>
                <a:spcPts val="0"/>
              </a:spcAft>
              <a:buClr>
                <a:schemeClr val="dk1"/>
              </a:buClr>
              <a:buSzPts val="1100"/>
              <a:buFont typeface="Arial"/>
              <a:buNone/>
            </a:pPr>
            <a:r>
              <a:rPr b="1" lang="en-US" sz="1800">
                <a:latin typeface="Arial"/>
                <a:ea typeface="Arial"/>
                <a:cs typeface="Arial"/>
                <a:sym typeface="Arial"/>
              </a:rPr>
              <a:t>Hardware:</a:t>
            </a:r>
            <a:r>
              <a:rPr lang="en-US" sz="1800">
                <a:latin typeface="Arial"/>
                <a:ea typeface="Arial"/>
                <a:cs typeface="Arial"/>
                <a:sym typeface="Arial"/>
              </a:rPr>
              <a:t> </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Minimum 8 GB RAM</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CPU with multi-core support</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GPU (NVIDIA CUDA-enabled) – optional but recommended for training</a:t>
            </a:r>
            <a:endParaRPr sz="1800">
              <a:latin typeface="Arial"/>
              <a:ea typeface="Arial"/>
              <a:cs typeface="Arial"/>
              <a:sym typeface="Arial"/>
            </a:endParaRPr>
          </a:p>
          <a:p>
            <a:pPr indent="-342900" lvl="0" marL="457200" rtl="0" algn="just">
              <a:lnSpc>
                <a:spcPct val="135000"/>
              </a:lnSpc>
              <a:spcBef>
                <a:spcPts val="0"/>
              </a:spcBef>
              <a:spcAft>
                <a:spcPts val="0"/>
              </a:spcAft>
              <a:buSzPts val="1800"/>
              <a:buFont typeface="Arial"/>
              <a:buChar char="•"/>
            </a:pPr>
            <a:r>
              <a:rPr lang="en-US" sz="1800">
                <a:latin typeface="Arial"/>
                <a:ea typeface="Arial"/>
                <a:cs typeface="Arial"/>
                <a:sym typeface="Arial"/>
              </a:rPr>
              <a:t>Storage: Minimum 20 GB</a:t>
            </a:r>
            <a:endParaRPr sz="1800">
              <a:latin typeface="Arial"/>
              <a:ea typeface="Arial"/>
              <a:cs typeface="Arial"/>
              <a:sym typeface="Arial"/>
            </a:endParaRPr>
          </a:p>
          <a:p>
            <a:pPr indent="-190500" lvl="0" marL="342900" rtl="0" algn="just">
              <a:lnSpc>
                <a:spcPct val="150000"/>
              </a:lnSpc>
              <a:spcBef>
                <a:spcPts val="0"/>
              </a:spcBef>
              <a:spcAft>
                <a:spcPts val="0"/>
              </a:spcAft>
              <a:buClr>
                <a:schemeClr val="dk1"/>
              </a:buClr>
              <a:buSzPts val="2400"/>
              <a:buNone/>
            </a:pPr>
            <a:r>
              <a:t/>
            </a:r>
            <a:endParaRPr sz="1800">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Innovation &amp; Novel Contributions</a:t>
            </a:r>
            <a:endParaRPr>
              <a:latin typeface="Cambria"/>
              <a:ea typeface="Cambria"/>
              <a:cs typeface="Cambria"/>
              <a:sym typeface="Cambria"/>
            </a:endParaRPr>
          </a:p>
        </p:txBody>
      </p:sp>
      <p:sp>
        <p:nvSpPr>
          <p:cNvPr id="303" name="Google Shape;303;p48"/>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50000"/>
              </a:lnSpc>
              <a:spcBef>
                <a:spcPts val="1200"/>
              </a:spcBef>
              <a:spcAft>
                <a:spcPts val="0"/>
              </a:spcAft>
              <a:buClr>
                <a:schemeClr val="dk1"/>
              </a:buClr>
              <a:buSzPts val="2400"/>
              <a:buNone/>
            </a:pPr>
            <a:r>
              <a:rPr lang="en-US" sz="1800">
                <a:latin typeface="Arial"/>
                <a:ea typeface="Arial"/>
                <a:cs typeface="Arial"/>
                <a:sym typeface="Arial"/>
              </a:rPr>
              <a:t>The innovative features of this project are:</a:t>
            </a:r>
            <a:endParaRPr sz="1800">
              <a:latin typeface="Arial"/>
              <a:ea typeface="Arial"/>
              <a:cs typeface="Arial"/>
              <a:sym typeface="Arial"/>
            </a:endParaRPr>
          </a:p>
          <a:p>
            <a:pPr indent="-342900" lvl="0" marL="457200" rtl="0" algn="just">
              <a:lnSpc>
                <a:spcPct val="150000"/>
              </a:lnSpc>
              <a:spcBef>
                <a:spcPts val="1200"/>
              </a:spcBef>
              <a:spcAft>
                <a:spcPts val="0"/>
              </a:spcAft>
              <a:buSzPts val="1800"/>
              <a:buFont typeface="Arial"/>
              <a:buAutoNum type="arabicPeriod"/>
            </a:pPr>
            <a:r>
              <a:rPr lang="en-US" sz="1800">
                <a:latin typeface="Arial"/>
                <a:ea typeface="Arial"/>
                <a:cs typeface="Arial"/>
                <a:sym typeface="Arial"/>
              </a:rPr>
              <a:t>Utilizing a </a:t>
            </a:r>
            <a:r>
              <a:rPr b="1" lang="en-US" sz="1800">
                <a:latin typeface="Arial"/>
                <a:ea typeface="Arial"/>
                <a:cs typeface="Arial"/>
                <a:sym typeface="Arial"/>
              </a:rPr>
              <a:t>Multi-Task Learning framework</a:t>
            </a:r>
            <a:r>
              <a:rPr lang="en-US" sz="1800">
                <a:latin typeface="Arial"/>
                <a:ea typeface="Arial"/>
                <a:cs typeface="Arial"/>
                <a:sym typeface="Arial"/>
              </a:rPr>
              <a:t> that combines both physical trait prediction and breed classification.</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Conducting </a:t>
            </a:r>
            <a:r>
              <a:rPr b="1" lang="en-US" sz="1800">
                <a:latin typeface="Arial"/>
                <a:ea typeface="Arial"/>
                <a:cs typeface="Arial"/>
                <a:sym typeface="Arial"/>
              </a:rPr>
              <a:t>comparative analysis</a:t>
            </a:r>
            <a:r>
              <a:rPr lang="en-US" sz="1800">
                <a:latin typeface="Arial"/>
                <a:ea typeface="Arial"/>
                <a:cs typeface="Arial"/>
                <a:sym typeface="Arial"/>
              </a:rPr>
              <a:t> of deep learning architectures applied to livestock photos.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Implementing </a:t>
            </a:r>
            <a:r>
              <a:rPr b="1" lang="en-US" sz="1800">
                <a:latin typeface="Arial"/>
                <a:ea typeface="Arial"/>
                <a:cs typeface="Arial"/>
                <a:sym typeface="Arial"/>
              </a:rPr>
              <a:t>Explainable AI using Grad-CAM</a:t>
            </a:r>
            <a:r>
              <a:rPr lang="en-US" sz="1800">
                <a:latin typeface="Arial"/>
                <a:ea typeface="Arial"/>
                <a:cs typeface="Arial"/>
                <a:sym typeface="Arial"/>
              </a:rPr>
              <a:t> to visually show the underlying results of model decisions.</a:t>
            </a:r>
            <a:endParaRPr sz="1800">
              <a:latin typeface="Arial"/>
              <a:ea typeface="Arial"/>
              <a:cs typeface="Arial"/>
              <a:sym typeface="Arial"/>
            </a:endParaRPr>
          </a:p>
          <a:p>
            <a:pPr indent="-342900" lvl="0" marL="457200" rtl="0" algn="just">
              <a:lnSpc>
                <a:spcPct val="150000"/>
              </a:lnSpc>
              <a:spcBef>
                <a:spcPts val="0"/>
              </a:spcBef>
              <a:spcAft>
                <a:spcPts val="0"/>
              </a:spcAft>
              <a:buSzPts val="1800"/>
              <a:buFont typeface="Arial"/>
              <a:buAutoNum type="arabicPeriod"/>
            </a:pPr>
            <a:r>
              <a:rPr lang="en-US" sz="1800">
                <a:latin typeface="Arial"/>
                <a:ea typeface="Arial"/>
                <a:cs typeface="Arial"/>
                <a:sym typeface="Arial"/>
              </a:rPr>
              <a:t>Emphasizing an </a:t>
            </a:r>
            <a:r>
              <a:rPr b="1" lang="en-US" sz="1800">
                <a:latin typeface="Arial"/>
                <a:ea typeface="Arial"/>
                <a:cs typeface="Arial"/>
                <a:sym typeface="Arial"/>
              </a:rPr>
              <a:t>architecture that can be deployed</a:t>
            </a:r>
            <a:r>
              <a:rPr lang="en-US" sz="1800">
                <a:latin typeface="Arial"/>
                <a:ea typeface="Arial"/>
                <a:cs typeface="Arial"/>
                <a:sym typeface="Arial"/>
              </a:rPr>
              <a:t> </a:t>
            </a:r>
            <a:r>
              <a:rPr b="1" lang="en-US" sz="1800">
                <a:latin typeface="Arial"/>
                <a:ea typeface="Arial"/>
                <a:cs typeface="Arial"/>
                <a:sym typeface="Arial"/>
              </a:rPr>
              <a:t>directly</a:t>
            </a:r>
            <a:r>
              <a:rPr lang="en-US" sz="1800">
                <a:latin typeface="Arial"/>
                <a:ea typeface="Arial"/>
                <a:cs typeface="Arial"/>
                <a:sym typeface="Arial"/>
              </a:rPr>
              <a:t> into government agriculture management systems as opposed to only being for training models.</a:t>
            </a:r>
            <a:endParaRPr sz="1800">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Timeline of the Project (Gantt Chart)</a:t>
            </a:r>
            <a:endParaRPr>
              <a:latin typeface="Cambria"/>
              <a:ea typeface="Cambria"/>
              <a:cs typeface="Cambria"/>
              <a:sym typeface="Cambria"/>
            </a:endParaRPr>
          </a:p>
        </p:txBody>
      </p:sp>
      <p:pic>
        <p:nvPicPr>
          <p:cNvPr id="309" name="Google Shape;309;p49"/>
          <p:cNvPicPr preferRelativeResize="0"/>
          <p:nvPr/>
        </p:nvPicPr>
        <p:blipFill rotWithShape="1">
          <a:blip r:embed="rId3">
            <a:alphaModFix/>
          </a:blip>
          <a:srcRect b="0" l="0" r="0" t="-3907"/>
          <a:stretch/>
        </p:blipFill>
        <p:spPr>
          <a:xfrm>
            <a:off x="710375" y="707436"/>
            <a:ext cx="10668000" cy="565351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152400" rtl="0" algn="l">
              <a:lnSpc>
                <a:spcPct val="200000"/>
              </a:lnSpc>
              <a:spcBef>
                <a:spcPts val="0"/>
              </a:spcBef>
              <a:spcAft>
                <a:spcPts val="0"/>
              </a:spcAft>
              <a:buSzPts val="2800"/>
              <a:buNone/>
            </a:pPr>
            <a:r>
              <a:rPr lang="en-US">
                <a:latin typeface="Cambria"/>
                <a:ea typeface="Cambria"/>
                <a:cs typeface="Cambria"/>
                <a:sym typeface="Cambria"/>
              </a:rPr>
              <a:t>Github</a:t>
            </a:r>
            <a:endParaRPr>
              <a:latin typeface="Cambria"/>
              <a:ea typeface="Cambria"/>
              <a:cs typeface="Cambria"/>
              <a:sym typeface="Cambria"/>
            </a:endParaRPr>
          </a:p>
        </p:txBody>
      </p:sp>
      <p:sp>
        <p:nvSpPr>
          <p:cNvPr id="315" name="Google Shape;315;p50"/>
          <p:cNvSpPr txBox="1"/>
          <p:nvPr>
            <p:ph idx="1" type="body"/>
          </p:nvPr>
        </p:nvSpPr>
        <p:spPr>
          <a:xfrm>
            <a:off x="812800" y="1143000"/>
            <a:ext cx="10668000" cy="4953000"/>
          </a:xfrm>
          <a:prstGeom prst="rect">
            <a:avLst/>
          </a:prstGeom>
          <a:noFill/>
          <a:ln>
            <a:noFill/>
          </a:ln>
        </p:spPr>
        <p:txBody>
          <a:bodyPr anchorCtr="0" anchor="t" bIns="45700" lIns="91425" spcFirstLastPara="1" rIns="91425" wrap="square" tIns="45700">
            <a:normAutofit/>
          </a:bodyPr>
          <a:lstStyle/>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1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a:p>
            <a:pPr indent="-190500" lvl="0" marL="342900" rtl="0" algn="just">
              <a:lnSpc>
                <a:spcPct val="200000"/>
              </a:lnSpc>
              <a:spcBef>
                <a:spcPts val="0"/>
              </a:spcBef>
              <a:spcAft>
                <a:spcPts val="0"/>
              </a:spcAft>
              <a:buClr>
                <a:schemeClr val="dk1"/>
              </a:buClr>
              <a:buSzPts val="2400"/>
              <a:buNone/>
            </a:pPr>
            <a:r>
              <a:t/>
            </a:r>
            <a:endParaRPr>
              <a:latin typeface="Cambria"/>
              <a:ea typeface="Cambria"/>
              <a:cs typeface="Cambria"/>
              <a:sym typeface="Cambria"/>
            </a:endParaRPr>
          </a:p>
        </p:txBody>
      </p:sp>
      <p:sp>
        <p:nvSpPr>
          <p:cNvPr id="316" name="Google Shape;316;p50"/>
          <p:cNvSpPr txBox="1"/>
          <p:nvPr/>
        </p:nvSpPr>
        <p:spPr>
          <a:xfrm>
            <a:off x="965200" y="1295400"/>
            <a:ext cx="10668000" cy="49530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chemeClr val="dk1"/>
              </a:solidFill>
              <a:latin typeface="Cambria"/>
              <a:ea typeface="Cambria"/>
              <a:cs typeface="Cambria"/>
              <a:sym typeface="Cambria"/>
            </a:endParaRPr>
          </a:p>
        </p:txBody>
      </p:sp>
      <p:sp>
        <p:nvSpPr>
          <p:cNvPr id="317" name="Google Shape;317;p50"/>
          <p:cNvSpPr txBox="1"/>
          <p:nvPr/>
        </p:nvSpPr>
        <p:spPr>
          <a:xfrm>
            <a:off x="812800" y="1143000"/>
            <a:ext cx="10668000" cy="4178300"/>
          </a:xfrm>
          <a:prstGeom prst="rect">
            <a:avLst/>
          </a:prstGeom>
          <a:noFill/>
          <a:ln>
            <a:noFill/>
          </a:ln>
        </p:spPr>
        <p:txBody>
          <a:bodyPr anchorCtr="0" anchor="t" bIns="45700" lIns="91425" spcFirstLastPara="1" rIns="91425" wrap="square" tIns="45700">
            <a:normAutofit/>
          </a:bodyPr>
          <a:lstStyle/>
          <a:p>
            <a:pPr indent="-190500" lvl="0" marL="342900" marR="0" rtl="0" algn="just">
              <a:lnSpc>
                <a:spcPct val="100000"/>
              </a:lnSpc>
              <a:spcBef>
                <a:spcPts val="0"/>
              </a:spcBef>
              <a:spcAft>
                <a:spcPts val="0"/>
              </a:spcAft>
              <a:buClr>
                <a:schemeClr val="dk1"/>
              </a:buClr>
              <a:buSzPts val="2400"/>
              <a:buFont typeface="Arial"/>
              <a:buNone/>
            </a:pPr>
            <a:r>
              <a:rPr b="1" i="0" lang="en-US" sz="2400" u="none" cap="none" strike="noStrike">
                <a:solidFill>
                  <a:srgbClr val="953734"/>
                </a:solidFill>
                <a:latin typeface="Cambria"/>
                <a:ea typeface="Cambria"/>
                <a:cs typeface="Cambria"/>
                <a:sym typeface="Cambria"/>
              </a:rPr>
              <a:t>Github Repository Link:</a:t>
            </a:r>
            <a:endParaRPr b="1" i="0" sz="2400" u="none" cap="none" strike="noStrike">
              <a:solidFill>
                <a:srgbClr val="953734"/>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rPr b="1" lang="en-US" sz="2400" u="sng">
                <a:solidFill>
                  <a:schemeClr val="hlink"/>
                </a:solidFill>
                <a:latin typeface="Cambria"/>
                <a:ea typeface="Cambria"/>
                <a:cs typeface="Cambria"/>
                <a:sym typeface="Cambria"/>
                <a:hlinkClick r:id="rId3"/>
              </a:rPr>
              <a:t>https://github.com/ashwin2947/livestock-breed-classification</a:t>
            </a:r>
            <a:endParaRPr b="1" i="0" sz="2400" u="none" cap="none" strike="noStrike">
              <a:solidFill>
                <a:srgbClr val="000000"/>
              </a:solidFill>
              <a:latin typeface="Cambria"/>
              <a:ea typeface="Cambria"/>
              <a:cs typeface="Cambria"/>
              <a:sym typeface="Cambria"/>
            </a:endParaRPr>
          </a:p>
          <a:p>
            <a:pPr indent="-190500" lvl="0" marL="342900" marR="0" rtl="0" algn="just">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a:p>
            <a:pPr indent="-190500" lvl="0" marL="342900" marR="0" rtl="0" algn="just">
              <a:lnSpc>
                <a:spcPct val="200000"/>
              </a:lnSpc>
              <a:spcBef>
                <a:spcPts val="0"/>
              </a:spcBef>
              <a:spcAft>
                <a:spcPts val="0"/>
              </a:spcAft>
              <a:buClr>
                <a:schemeClr val="dk1"/>
              </a:buClr>
              <a:buSzPts val="2400"/>
              <a:buFont typeface="Arial"/>
              <a:buNone/>
            </a:pPr>
            <a:r>
              <a:t/>
            </a:r>
            <a:endParaRPr b="0" i="0" sz="2400" u="none" cap="none" strike="noStrike">
              <a:solidFill>
                <a:srgbClr val="000000"/>
              </a:solidFill>
              <a:latin typeface="Cambria"/>
              <a:ea typeface="Cambria"/>
              <a:cs typeface="Cambria"/>
              <a:sym typeface="Cambri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323" name="Google Shape;323;p5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Krizhevsky, A., Sutskever, I., &amp; Hinton, G. E., “ImageNet Classification with Deep Convolutional Neural Networks,” IEEE, 2012.</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He, K., Zhang, X., Ren, S., &amp; Sun, J., “Deep Residual Learning for Image Recognition,” CVPR, 2016.</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Tan, M., &amp; Le, Q., “EfficientNet: Rethinking Model Scaling for CNNs,” ICML, 2019.</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Selvaraju, R. R. et al., “Grad-CAM: Visual Explanations from Deep Networks,” ICCV, 2017.</a:t>
            </a:r>
            <a:endParaRPr sz="1800">
              <a:latin typeface="Arial"/>
              <a:ea typeface="Arial"/>
              <a:cs typeface="Arial"/>
              <a:sym typeface="Arial"/>
            </a:endParaRPr>
          </a:p>
          <a:p>
            <a:pPr indent="-342900" lvl="0" marL="457200" rtl="0" algn="l">
              <a:lnSpc>
                <a:spcPct val="150000"/>
              </a:lnSpc>
              <a:spcBef>
                <a:spcPts val="0"/>
              </a:spcBef>
              <a:spcAft>
                <a:spcPts val="0"/>
              </a:spcAft>
              <a:buSzPts val="1800"/>
              <a:buFont typeface="Arial"/>
              <a:buAutoNum type="arabicPeriod"/>
            </a:pPr>
            <a:r>
              <a:rPr lang="en-US" sz="1800">
                <a:latin typeface="Arial"/>
                <a:ea typeface="Arial"/>
                <a:cs typeface="Arial"/>
                <a:sym typeface="Arial"/>
              </a:rPr>
              <a:t>Kamilaris, A., &amp; Prenafeta-Boldú, F. X., “Deep Learning in Agriculture: A Survey,” Computers and Electronics in Agriculture, 2018.</a:t>
            </a:r>
            <a:endParaRPr sz="1800">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52"/>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
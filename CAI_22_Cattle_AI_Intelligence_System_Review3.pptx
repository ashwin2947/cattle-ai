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EBFDC3-4A6E-4B16-8D9B-2D6DE657D5D5}">
  <a:tblStyle styleId="{85EBFDC3-4A6E-4B16-8D9B-2D6DE657D5D5}"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DB90103-1ACB-4684-8166-67C3369AEDC9}"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47e1c2c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847e1c2c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2b3236ad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c2b3236ad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2b3236add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c2b3236add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4f27df1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c4f27df1c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4f27df1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c4f27df1c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4f27df1c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c4f27df1cd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github.com/ashwin2947/cattle-a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Cattle AI - Intelligence System</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CAI_22</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Jai Kumar B</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{85EBFDC3-4A6E-4B16-8D9B-2D6DE657D5D5}</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lang="en-US" sz="1800">
                <a:solidFill>
                  <a:srgbClr val="17365D"/>
                </a:solidFill>
                <a:latin typeface="Cambria"/>
                <a:ea typeface="Cambria"/>
                <a:cs typeface="Cambria"/>
                <a:sym typeface="Cambria"/>
              </a:rPr>
              <a:t>CSE7302</a:t>
            </a:r>
            <a:r>
              <a:rPr b="1" i="0" lang="en-US" sz="1800" u="none" cap="none" strike="noStrike">
                <a:solidFill>
                  <a:srgbClr val="17365D"/>
                </a:solidFill>
                <a:latin typeface="Cambria"/>
                <a:ea typeface="Cambria"/>
                <a:cs typeface="Cambria"/>
                <a:sym typeface="Cambria"/>
              </a:rPr>
              <a:t>- </a:t>
            </a:r>
            <a:r>
              <a:rPr b="1" lang="en-US" sz="1800">
                <a:solidFill>
                  <a:srgbClr val="17365D"/>
                </a:solidFill>
                <a:latin typeface="Cambria"/>
                <a:ea typeface="Cambria"/>
                <a:cs typeface="Cambria"/>
                <a:sym typeface="Cambria"/>
              </a:rPr>
              <a:t>University</a:t>
            </a:r>
            <a:r>
              <a:rPr b="1" i="0" lang="en-US" sz="1800" u="none" cap="none" strike="noStrike">
                <a:solidFill>
                  <a:srgbClr val="17365D"/>
                </a:solidFill>
                <a:latin typeface="Cambria"/>
                <a:ea typeface="Cambria"/>
                <a:cs typeface="Cambria"/>
                <a:sym typeface="Cambria"/>
              </a:rPr>
              <a:t>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2</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a:t>
            </a:r>
            <a:r>
              <a:rPr b="1" i="0" lang="en-US" sz="1800" u="none" cap="none" strike="noStrike">
                <a:solidFill>
                  <a:schemeClr val="accent1"/>
                </a:solidFill>
                <a:latin typeface="Cambria"/>
                <a:ea typeface="Cambria"/>
                <a:cs typeface="Cambria"/>
                <a:sym typeface="Cambria"/>
              </a:rPr>
              <a:t> </a:t>
            </a:r>
            <a:r>
              <a:rPr b="1" lang="en-US" sz="1800">
                <a:solidFill>
                  <a:srgbClr val="FF0000"/>
                </a:solidFill>
                <a:latin typeface="Cambria"/>
                <a:ea typeface="Cambria"/>
                <a:cs typeface="Cambria"/>
                <a:sym typeface="Cambria"/>
              </a:rPr>
              <a:t>Ms. Suma N 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{1DB90103-1ACB-4684-8166-67C3369AEDC9}</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SIH25004</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800">
                <a:latin typeface="Arial"/>
                <a:ea typeface="Arial"/>
                <a:cs typeface="Arial"/>
                <a:sym typeface="Arial"/>
              </a:rPr>
              <a:t>Organization:</a:t>
            </a:r>
            <a:r>
              <a:rPr lang="en-US" sz="1800">
                <a:latin typeface="Arial"/>
                <a:ea typeface="Arial"/>
                <a:cs typeface="Arial"/>
                <a:sym typeface="Arial"/>
              </a:rPr>
              <a:t> “</a:t>
            </a:r>
            <a:r>
              <a:rPr lang="en-US" sz="1800">
                <a:latin typeface="Arial"/>
                <a:ea typeface="Arial"/>
                <a:cs typeface="Arial"/>
                <a:sym typeface="Arial"/>
              </a:rPr>
              <a:t>Department of Animal Husbandry &amp; Dairying, Government of India</a:t>
            </a:r>
            <a:r>
              <a:rPr lang="en-US" sz="1800">
                <a:latin typeface="Arial"/>
                <a:ea typeface="Arial"/>
                <a:cs typeface="Arial"/>
                <a:sym typeface="Arial"/>
              </a:rPr>
              <a:t>”</a:t>
            </a:r>
            <a:endParaRPr sz="18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Category (Hardware / Software / Both) :</a:t>
            </a:r>
            <a:r>
              <a:rPr lang="en-US" sz="1800">
                <a:latin typeface="Arial"/>
                <a:ea typeface="Arial"/>
                <a:cs typeface="Arial"/>
                <a:sym typeface="Arial"/>
              </a:rPr>
              <a:t> “Software”</a:t>
            </a:r>
            <a:endParaRPr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Problem Description:</a:t>
            </a:r>
            <a:r>
              <a:rPr lang="en-US" sz="1800">
                <a:latin typeface="Arial"/>
                <a:ea typeface="Arial"/>
                <a:cs typeface="Arial"/>
                <a:sym typeface="Arial"/>
              </a:rPr>
              <a:t> “</a:t>
            </a:r>
            <a:r>
              <a:rPr lang="en-US" sz="1800">
                <a:latin typeface="Arial"/>
                <a:ea typeface="Arial"/>
                <a:cs typeface="Arial"/>
                <a:sym typeface="Arial"/>
              </a:rPr>
              <a:t>Accurate identification of livestock breeds and assessment of physical traits are essential for effective livestock management, breeding programs, and maintaining national animal databases. Currently, this process is largely manual, relying on visual inspection by experts, which is time-consuming, subjective, and difficult to scale. The problem statement focuses on developing a software-based intelligent system that can automatically identify livestock breeds and analyze physical traits from images using modern artificial intelligence techniques.</a:t>
            </a:r>
            <a:r>
              <a:rPr lang="en-US" sz="1800">
                <a:latin typeface="Arial"/>
                <a:ea typeface="Arial"/>
                <a:cs typeface="Arial"/>
                <a:sym typeface="Arial"/>
              </a:rPr>
              <a:t>”</a:t>
            </a:r>
            <a:endParaRPr sz="18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Accurate livestock breed identification and physical trait assessment are essential for effective breeding management and productivity optimization in precision livestock farming. Conventional approaches rely on manual observation and physical measurements, which are time-consuming, labor-intensive, and prone to inconsistency. This project proposes a deep learning-based computer vision system for automated livestock breed classification and physical trait estimation using image data. The system leverages transfer learning with convolutional neural networks to extract robust visual features from cattle images. A multi-task learning framework is employed to simultaneously perform breed classification and regression-based estimation of physical traits such as body weight, height, and body length. </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11" name="Google Shape;111;p16"/>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The proposed model is trained and evaluated on annotated livestock image datasets using standard classification and regression metrics. By enabling non-contact, scalable, and efficient analysis, the system aims to support data-driven decision-making in livestock management and promote the adoption of intelligent technologies in modern agricultural practices.</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117" name="Google Shape;117;p17" title="WhatsApp Image 2026-04-23 at 17.31.40.jpeg"/>
          <p:cNvPicPr preferRelativeResize="0"/>
          <p:nvPr/>
        </p:nvPicPr>
        <p:blipFill rotWithShape="1">
          <a:blip r:embed="rId3">
            <a:alphaModFix/>
          </a:blip>
          <a:srcRect b="18785" l="0" r="0" t="0"/>
          <a:stretch/>
        </p:blipFill>
        <p:spPr>
          <a:xfrm>
            <a:off x="1331875" y="1145573"/>
            <a:ext cx="8686598" cy="4703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23" name="Google Shape;123;p18"/>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Input: </a:t>
            </a:r>
            <a:r>
              <a:rPr lang="en-US" sz="1800">
                <a:solidFill>
                  <a:schemeClr val="dk1"/>
                </a:solidFill>
              </a:rPr>
              <a:t>Image I</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Output: </a:t>
            </a:r>
            <a:r>
              <a:rPr lang="en-US" sz="1800">
                <a:solidFill>
                  <a:schemeClr val="dk1"/>
                </a:solidFill>
              </a:rPr>
              <a:t>Breed C, Weight W</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Pseudocode : </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Algorithm Cattle_Analysis_System</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Input:</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    Image I</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Detection model D</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Segmentation model S</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Classification model C_model</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Regression model R_model</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29" name="Google Shape;129;p19"/>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Output:</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    Breed C</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Weight W</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Steps:</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1. Detect cattle bounding box using model D</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2. Crop cattle region from image</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3. Apply segmentation model S and  binary body mask</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35" name="Google Shape;135;p20"/>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4. Extract morphometric features: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body_length_pixels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body_height_pixels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body_area</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5. Estimate scale using expected cattle height</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6. Convert measurements to real units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7. Predict breed using classification model</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8. Estimate weight using regression model</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9. Return</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breed class, estimated weight</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80000"/>
              </a:lnSpc>
              <a:spcBef>
                <a:spcPts val="0"/>
              </a:spcBef>
              <a:spcAft>
                <a:spcPts val="0"/>
              </a:spcAft>
              <a:buNone/>
            </a:pPr>
            <a:r>
              <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41" name="Google Shape;141;p2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sz="1800" u="sng">
                <a:latin typeface="Arial"/>
                <a:ea typeface="Arial"/>
                <a:cs typeface="Arial"/>
                <a:sym typeface="Arial"/>
              </a:rPr>
              <a:t>Technology Stack Components:</a:t>
            </a:r>
            <a:endParaRPr sz="1800" u="sng">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Machine Learning &amp; Computer Vision</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Python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Deep Learning Framework: TensorFlow</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CNN Architectures: EfficientNet, MobileNet</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OpenCV for image preprocessing</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Backend</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FastAPI for inference APIs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RESTful services</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Deployment &amp; Tools</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Docker for containerization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Git/GitHub for version control</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7" name="Google Shape;147;p22"/>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200000"/>
              </a:lnSpc>
              <a:spcBef>
                <a:spcPts val="0"/>
              </a:spcBef>
              <a:spcAft>
                <a:spcPts val="0"/>
              </a:spcAft>
              <a:buClr>
                <a:schemeClr val="dk1"/>
              </a:buClr>
              <a:buSzPts val="2400"/>
              <a:buNone/>
            </a:pPr>
            <a:r>
              <a:rPr b="1" lang="en-US" sz="1800" u="sng">
                <a:latin typeface="Arial"/>
                <a:ea typeface="Arial"/>
                <a:cs typeface="Arial"/>
                <a:sym typeface="Arial"/>
              </a:rPr>
              <a:t>Software and Hardware Requirements</a:t>
            </a:r>
            <a:r>
              <a:rPr b="1" lang="en-US" sz="1800" u="sng">
                <a:latin typeface="Arial"/>
                <a:ea typeface="Arial"/>
                <a:cs typeface="Arial"/>
                <a:sym typeface="Arial"/>
              </a:rPr>
              <a:t>:</a:t>
            </a:r>
            <a:r>
              <a:rPr lang="en-US" sz="1800" u="sng">
                <a:latin typeface="Arial"/>
                <a:ea typeface="Arial"/>
                <a:cs typeface="Arial"/>
                <a:sym typeface="Arial"/>
              </a:rPr>
              <a:t> </a:t>
            </a:r>
            <a:endParaRPr sz="1800" u="sng">
              <a:latin typeface="Arial"/>
              <a:ea typeface="Arial"/>
              <a:cs typeface="Arial"/>
              <a:sym typeface="Arial"/>
            </a:endParaRPr>
          </a:p>
          <a:p>
            <a:pPr indent="-190500" lvl="0" marL="342900" rtl="0" algn="just">
              <a:lnSpc>
                <a:spcPct val="135000"/>
              </a:lnSpc>
              <a:spcBef>
                <a:spcPts val="0"/>
              </a:spcBef>
              <a:spcAft>
                <a:spcPts val="0"/>
              </a:spcAft>
              <a:buClr>
                <a:schemeClr val="dk1"/>
              </a:buClr>
              <a:buSzPts val="2400"/>
              <a:buNone/>
            </a:pPr>
            <a:r>
              <a:rPr lang="en-US" sz="1800">
                <a:latin typeface="Arial"/>
                <a:ea typeface="Arial"/>
                <a:cs typeface="Arial"/>
                <a:sym typeface="Arial"/>
              </a:rPr>
              <a:t>		</a:t>
            </a:r>
            <a:r>
              <a:rPr b="1" lang="en-US" sz="1800">
                <a:latin typeface="Arial"/>
                <a:ea typeface="Arial"/>
                <a:cs typeface="Arial"/>
                <a:sym typeface="Arial"/>
              </a:rPr>
              <a:t>Software: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a:t>
            </a:r>
            <a:r>
              <a:rPr lang="en-US" sz="1800">
                <a:latin typeface="Arial"/>
                <a:ea typeface="Arial"/>
                <a:cs typeface="Arial"/>
                <a:sym typeface="Arial"/>
              </a:rPr>
              <a:t>perating System: Windows</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Python 3.11.9</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PyTorch</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OpenCV</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FastAPI</a:t>
            </a:r>
            <a:endParaRPr sz="1800">
              <a:latin typeface="Arial"/>
              <a:ea typeface="Arial"/>
              <a:cs typeface="Arial"/>
              <a:sym typeface="Arial"/>
            </a:endParaRPr>
          </a:p>
          <a:p>
            <a:pPr indent="0" lvl="0" marL="457200" rtl="0" algn="just">
              <a:lnSpc>
                <a:spcPct val="135000"/>
              </a:lnSpc>
              <a:spcBef>
                <a:spcPts val="0"/>
              </a:spcBef>
              <a:spcAft>
                <a:spcPts val="0"/>
              </a:spcAft>
              <a:buClr>
                <a:schemeClr val="dk1"/>
              </a:buClr>
              <a:buSzPts val="1100"/>
              <a:buFont typeface="Arial"/>
              <a:buNone/>
            </a:pPr>
            <a:r>
              <a:rPr b="1" lang="en-US" sz="1800">
                <a:latin typeface="Arial"/>
                <a:ea typeface="Arial"/>
                <a:cs typeface="Arial"/>
                <a:sym typeface="Arial"/>
              </a:rPr>
              <a:t>Hardware: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Minimum 8 GB RAM</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CPU with multi-core support</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GPU (NVIDIA CUDA-enabled)</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Storage: Minimum 20 GB</a:t>
            </a:r>
            <a:endParaRPr sz="18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Innovation &amp; Novel Contributions</a:t>
            </a:r>
            <a:endParaRPr>
              <a:latin typeface="Cambria"/>
              <a:ea typeface="Cambria"/>
              <a:cs typeface="Cambria"/>
              <a:sym typeface="Cambria"/>
            </a:endParaRPr>
          </a:p>
        </p:txBody>
      </p:sp>
      <p:sp>
        <p:nvSpPr>
          <p:cNvPr id="153" name="Google Shape;153;p23"/>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50000"/>
              </a:lnSpc>
              <a:spcBef>
                <a:spcPts val="1200"/>
              </a:spcBef>
              <a:spcAft>
                <a:spcPts val="0"/>
              </a:spcAft>
              <a:buClr>
                <a:schemeClr val="dk1"/>
              </a:buClr>
              <a:buSzPts val="2400"/>
              <a:buNone/>
            </a:pPr>
            <a:r>
              <a:rPr lang="en-US" sz="1800">
                <a:latin typeface="Arial"/>
                <a:ea typeface="Arial"/>
                <a:cs typeface="Arial"/>
                <a:sym typeface="Arial"/>
              </a:rPr>
              <a:t>The innovative features of this project are:</a:t>
            </a:r>
            <a:endParaRPr sz="1800">
              <a:latin typeface="Arial"/>
              <a:ea typeface="Arial"/>
              <a:cs typeface="Arial"/>
              <a:sym typeface="Arial"/>
            </a:endParaRPr>
          </a:p>
          <a:p>
            <a:pPr indent="-342900" lvl="0" marL="457200" rtl="0" algn="just">
              <a:lnSpc>
                <a:spcPct val="150000"/>
              </a:lnSpc>
              <a:spcBef>
                <a:spcPts val="1200"/>
              </a:spcBef>
              <a:spcAft>
                <a:spcPts val="0"/>
              </a:spcAft>
              <a:buSzPts val="1800"/>
              <a:buFont typeface="Arial"/>
              <a:buAutoNum type="arabicPeriod"/>
            </a:pPr>
            <a:r>
              <a:rPr lang="en-US" sz="1800">
                <a:latin typeface="Arial"/>
                <a:ea typeface="Arial"/>
                <a:cs typeface="Arial"/>
                <a:sym typeface="Arial"/>
              </a:rPr>
              <a:t>Utilizing a </a:t>
            </a:r>
            <a:r>
              <a:rPr b="1" lang="en-US" sz="1800">
                <a:latin typeface="Arial"/>
                <a:ea typeface="Arial"/>
                <a:cs typeface="Arial"/>
                <a:sym typeface="Arial"/>
              </a:rPr>
              <a:t>Multi-Task Learning framework</a:t>
            </a:r>
            <a:r>
              <a:rPr lang="en-US" sz="1800">
                <a:latin typeface="Arial"/>
                <a:ea typeface="Arial"/>
                <a:cs typeface="Arial"/>
                <a:sym typeface="Arial"/>
              </a:rPr>
              <a:t> that combines both physical trait prediction and breed classification.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Conducting </a:t>
            </a:r>
            <a:r>
              <a:rPr b="1" lang="en-US" sz="1800">
                <a:latin typeface="Arial"/>
                <a:ea typeface="Arial"/>
                <a:cs typeface="Arial"/>
                <a:sym typeface="Arial"/>
              </a:rPr>
              <a:t>comparative analysis</a:t>
            </a:r>
            <a:r>
              <a:rPr lang="en-US" sz="1800">
                <a:latin typeface="Arial"/>
                <a:ea typeface="Arial"/>
                <a:cs typeface="Arial"/>
                <a:sym typeface="Arial"/>
              </a:rPr>
              <a:t> of deep learning architectures applied to livestock photos.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Implementing </a:t>
            </a:r>
            <a:r>
              <a:rPr b="1" lang="en-US" sz="1800">
                <a:latin typeface="Arial"/>
                <a:ea typeface="Arial"/>
                <a:cs typeface="Arial"/>
                <a:sym typeface="Arial"/>
              </a:rPr>
              <a:t>Explainable AI using Grad-CAM</a:t>
            </a:r>
            <a:r>
              <a:rPr lang="en-US" sz="1800">
                <a:latin typeface="Arial"/>
                <a:ea typeface="Arial"/>
                <a:cs typeface="Arial"/>
                <a:sym typeface="Arial"/>
              </a:rPr>
              <a:t> to visually show the underlying results of model decisions.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Emphasizing an </a:t>
            </a:r>
            <a:r>
              <a:rPr b="1" lang="en-US" sz="1800">
                <a:latin typeface="Arial"/>
                <a:ea typeface="Arial"/>
                <a:cs typeface="Arial"/>
                <a:sym typeface="Arial"/>
              </a:rPr>
              <a:t>architecture that can be deployed</a:t>
            </a:r>
            <a:r>
              <a:rPr lang="en-US" sz="1800">
                <a:latin typeface="Arial"/>
                <a:ea typeface="Arial"/>
                <a:cs typeface="Arial"/>
                <a:sym typeface="Arial"/>
              </a:rPr>
              <a:t> </a:t>
            </a:r>
            <a:r>
              <a:rPr b="1" lang="en-US" sz="1800">
                <a:latin typeface="Arial"/>
                <a:ea typeface="Arial"/>
                <a:cs typeface="Arial"/>
                <a:sym typeface="Arial"/>
              </a:rPr>
              <a:t>directly</a:t>
            </a:r>
            <a:r>
              <a:rPr lang="en-US" sz="1800">
                <a:latin typeface="Arial"/>
                <a:ea typeface="Arial"/>
                <a:cs typeface="Arial"/>
                <a:sym typeface="Arial"/>
              </a:rPr>
              <a:t> into government agriculture management systems as opposed to only being for training models.</a:t>
            </a:r>
            <a:endParaRPr sz="1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159" name="Google Shape;159;p24"/>
          <p:cNvPicPr preferRelativeResize="0"/>
          <p:nvPr/>
        </p:nvPicPr>
        <p:blipFill rotWithShape="1">
          <a:blip r:embed="rId3">
            <a:alphaModFix/>
          </a:blip>
          <a:srcRect b="0" l="0" r="0" t="-3907"/>
          <a:stretch/>
        </p:blipFill>
        <p:spPr>
          <a:xfrm>
            <a:off x="710375" y="707436"/>
            <a:ext cx="10668000" cy="56535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a:t>
            </a:r>
            <a:endParaRPr>
              <a:latin typeface="Cambria"/>
              <a:ea typeface="Cambria"/>
              <a:cs typeface="Cambria"/>
              <a:sym typeface="Cambria"/>
            </a:endParaRPr>
          </a:p>
        </p:txBody>
      </p:sp>
      <p:sp>
        <p:nvSpPr>
          <p:cNvPr id="165" name="Google Shape;165;p25"/>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66" name="Google Shape;166;p25"/>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67" name="Google Shape;167;p25"/>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Repository Link:</a:t>
            </a:r>
            <a:endParaRPr b="1" i="0" sz="2400" u="none" cap="none" strike="noStrike">
              <a:solidFill>
                <a:srgbClr val="953734"/>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lang="en-US" sz="2400" u="sng">
                <a:solidFill>
                  <a:schemeClr val="hlink"/>
                </a:solidFill>
                <a:latin typeface="Cambria"/>
                <a:ea typeface="Cambria"/>
                <a:cs typeface="Cambria"/>
                <a:sym typeface="Cambria"/>
                <a:hlinkClick r:id="rId3"/>
              </a:rPr>
              <a:t>https://github.com/ashwin2947/cattle-ai</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73" name="Google Shape;173;p2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Krizhevsky, A., Sutskever, I., &amp; Hinton, G. E., “ImageNet Classification with Deep Convolutional Neural Networks,” IEEE, 2012.</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He, K., Zhang, X., Ren, S., &amp; Sun, J., “Deep Residual Learning for Image Recognition,” CVPR, 2016.</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Tan, M., &amp; Le, Q., “EfficientNet: Rethinking Model Scaling for CNNs,” ICML, 2019.</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Selvaraju, R. R. et al., “Grad-CAM: Visual Explanations from Deep Networks,” ICCV, 2017.</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Kamilaris, A., &amp; Prenafeta-Boldú, F. X., “Deep Learning in Agriculture: A Survey,” Computers and Electronics in Agriculture, 2018.</a:t>
            </a:r>
            <a:endParaRPr sz="18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7"/>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
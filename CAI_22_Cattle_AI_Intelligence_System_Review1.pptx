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5B688FF-22C9-44D7-B8E5-E36FD479B787}">
  <a:tblStyle styleId="{85B688FF-22C9-44D7-B8E5-E36FD479B787}" styleName="Table_0">
    <a:wholeTbl>
      <a:tcTxStyle b="off" i="off">
        <a:font>
          <a:latin typeface="Bookman Old Style"/>
          <a:ea typeface="Bookman Old Style"/>
          <a:cs typeface="Bookman Old Style"/>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B14C0F7-AFF7-4032-81C4-5516D25C67C0}"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847e1c2c7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g3847e1c2c7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28658262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g3b28658262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b28658262f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3b28658262f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b28658262f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g3b28658262f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1050877" y="1322386"/>
            <a:ext cx="10363200" cy="1470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 type="subTitle"/>
          </p:nvPr>
        </p:nvSpPr>
        <p:spPr>
          <a:xfrm>
            <a:off x="2032000" y="3326641"/>
            <a:ext cx="85344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00"/>
              </a:spcBef>
              <a:spcAft>
                <a:spcPts val="0"/>
              </a:spcAft>
              <a:buClr>
                <a:srgbClr val="17365D"/>
              </a:buClr>
              <a:buSzPts val="2000"/>
              <a:buNone/>
              <a:defRPr b="1" sz="2000">
                <a:solidFill>
                  <a:srgbClr val="17365D"/>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6" name="Google Shape;16;p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a:solidFill>
                  <a:schemeClr val="dk1"/>
                </a:solidFill>
              </a:defRPr>
            </a:lvl1pPr>
            <a:lvl2pPr indent="-355600" lvl="1" marL="914400" algn="l">
              <a:lnSpc>
                <a:spcPct val="100000"/>
              </a:lnSpc>
              <a:spcBef>
                <a:spcPts val="400"/>
              </a:spcBef>
              <a:spcAft>
                <a:spcPts val="0"/>
              </a:spcAft>
              <a:buClr>
                <a:schemeClr val="dk1"/>
              </a:buClr>
              <a:buSzPts val="2000"/>
              <a:buChar char="–"/>
              <a:defRPr>
                <a:solidFill>
                  <a:schemeClr val="dk1"/>
                </a:solidFill>
              </a:defRPr>
            </a:lvl2pPr>
            <a:lvl3pPr indent="-342900" lvl="2" marL="1371600" algn="l">
              <a:lnSpc>
                <a:spcPct val="100000"/>
              </a:lnSpc>
              <a:spcBef>
                <a:spcPts val="360"/>
              </a:spcBef>
              <a:spcAft>
                <a:spcPts val="0"/>
              </a:spcAft>
              <a:buClr>
                <a:schemeClr val="dk1"/>
              </a:buClr>
              <a:buSzPts val="1800"/>
              <a:buChar char="•"/>
              <a:defRPr>
                <a:solidFill>
                  <a:schemeClr val="dk1"/>
                </a:solidFill>
              </a:defRPr>
            </a:lvl3pPr>
            <a:lvl4pPr indent="-330200" lvl="3" marL="1828800" algn="l">
              <a:lnSpc>
                <a:spcPct val="100000"/>
              </a:lnSpc>
              <a:spcBef>
                <a:spcPts val="320"/>
              </a:spcBef>
              <a:spcAft>
                <a:spcPts val="0"/>
              </a:spcAft>
              <a:buClr>
                <a:schemeClr val="dk1"/>
              </a:buClr>
              <a:buSzPts val="1600"/>
              <a:buChar char="–"/>
              <a:defRPr>
                <a:solidFill>
                  <a:schemeClr val="dk1"/>
                </a:solidFill>
              </a:defRPr>
            </a:lvl4pPr>
            <a:lvl5pPr indent="-330200" lvl="4" marL="2286000" algn="l">
              <a:lnSpc>
                <a:spcPct val="100000"/>
              </a:lnSpc>
              <a:spcBef>
                <a:spcPts val="320"/>
              </a:spcBef>
              <a:spcAft>
                <a:spcPts val="0"/>
              </a:spcAft>
              <a:buClr>
                <a:schemeClr val="dk1"/>
              </a:buClr>
              <a:buSzPts val="1600"/>
              <a:buChar char="»"/>
              <a:defRPr>
                <a:solidFill>
                  <a:schemeClr val="dk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3"/>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4"/>
          <p:cNvSpPr txBox="1"/>
          <p:nvPr>
            <p:ph type="title"/>
          </p:nvPr>
        </p:nvSpPr>
        <p:spPr>
          <a:xfrm>
            <a:off x="963084" y="4406903"/>
            <a:ext cx="10363200" cy="13620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F0000"/>
              </a:buClr>
              <a:buSzPts val="4000"/>
              <a:buFont typeface="Verdana"/>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963084" y="2906713"/>
            <a:ext cx="103632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8" name="Google Shape;28;p4"/>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609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4" name="Google Shape;34;p5"/>
          <p:cNvSpPr txBox="1"/>
          <p:nvPr>
            <p:ph idx="2" type="body"/>
          </p:nvPr>
        </p:nvSpPr>
        <p:spPr>
          <a:xfrm>
            <a:off x="6197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5" name="Google Shape;35;p5"/>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6"/>
          <p:cNvSpPr txBox="1"/>
          <p:nvPr>
            <p:ph type="title"/>
          </p:nvPr>
        </p:nvSpPr>
        <p:spPr>
          <a:xfrm>
            <a:off x="859368" y="304800"/>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 type="body"/>
          </p:nvPr>
        </p:nvSpPr>
        <p:spPr>
          <a:xfrm>
            <a:off x="609600" y="1535113"/>
            <a:ext cx="53868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6"/>
          <p:cNvSpPr txBox="1"/>
          <p:nvPr>
            <p:ph idx="2" type="body"/>
          </p:nvPr>
        </p:nvSpPr>
        <p:spPr>
          <a:xfrm>
            <a:off x="609600" y="2174875"/>
            <a:ext cx="53868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6"/>
          <p:cNvSpPr txBox="1"/>
          <p:nvPr>
            <p:ph idx="3" type="body"/>
          </p:nvPr>
        </p:nvSpPr>
        <p:spPr>
          <a:xfrm>
            <a:off x="6193369" y="1535113"/>
            <a:ext cx="5388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6"/>
          <p:cNvSpPr txBox="1"/>
          <p:nvPr>
            <p:ph idx="4" type="body"/>
          </p:nvPr>
        </p:nvSpPr>
        <p:spPr>
          <a:xfrm>
            <a:off x="6193369" y="2174875"/>
            <a:ext cx="5388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6"/>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860800" y="274638"/>
            <a:ext cx="77217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pic>
        <p:nvPicPr>
          <p:cNvPr descr="C:\Users\AMMU\Desktop\Border.png" id="52" name="Google Shape;52;p7"/>
          <p:cNvPicPr preferRelativeResize="0"/>
          <p:nvPr/>
        </p:nvPicPr>
        <p:blipFill rotWithShape="1">
          <a:blip r:embed="rId2">
            <a:alphaModFix/>
          </a:blip>
          <a:srcRect b="0" l="0" r="0" t="0"/>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8"/>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9"/>
          <p:cNvSpPr txBox="1"/>
          <p:nvPr>
            <p:ph type="title"/>
          </p:nvPr>
        </p:nvSpPr>
        <p:spPr>
          <a:xfrm>
            <a:off x="609602" y="273050"/>
            <a:ext cx="4011000" cy="1162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 type="body"/>
          </p:nvPr>
        </p:nvSpPr>
        <p:spPr>
          <a:xfrm>
            <a:off x="4766733" y="273053"/>
            <a:ext cx="6815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0" name="Google Shape;60;p9"/>
          <p:cNvSpPr txBox="1"/>
          <p:nvPr>
            <p:ph idx="2" type="body"/>
          </p:nvPr>
        </p:nvSpPr>
        <p:spPr>
          <a:xfrm>
            <a:off x="609602" y="1435103"/>
            <a:ext cx="40110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1" name="Google Shape;61;p9"/>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10"/>
          <p:cNvSpPr txBox="1"/>
          <p:nvPr>
            <p:ph type="title"/>
          </p:nvPr>
        </p:nvSpPr>
        <p:spPr>
          <a:xfrm>
            <a:off x="2389717" y="4800600"/>
            <a:ext cx="7315200" cy="5667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p:nvPr>
            <p:ph idx="2" type="pic"/>
          </p:nvPr>
        </p:nvSpPr>
        <p:spPr>
          <a:xfrm>
            <a:off x="2389717" y="612775"/>
            <a:ext cx="7315200" cy="4114800"/>
          </a:xfrm>
          <a:prstGeom prst="rect">
            <a:avLst/>
          </a:prstGeom>
          <a:noFill/>
          <a:ln>
            <a:noFill/>
          </a:ln>
        </p:spPr>
      </p:sp>
      <p:sp>
        <p:nvSpPr>
          <p:cNvPr id="67" name="Google Shape;67;p10"/>
          <p:cNvSpPr txBox="1"/>
          <p:nvPr>
            <p:ph idx="1" type="body"/>
          </p:nvPr>
        </p:nvSpPr>
        <p:spPr>
          <a:xfrm>
            <a:off x="2389717" y="5367338"/>
            <a:ext cx="73152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8" name="Google Shape;68;p10"/>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1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 type="body"/>
          </p:nvPr>
        </p:nvSpPr>
        <p:spPr>
          <a:xfrm rot="5400000">
            <a:off x="3670300" y="-1714499"/>
            <a:ext cx="4953000" cy="10668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4" name="Google Shape;74;p1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12"/>
          <p:cNvSpPr txBox="1"/>
          <p:nvPr>
            <p:ph type="title"/>
          </p:nvPr>
        </p:nvSpPr>
        <p:spPr>
          <a:xfrm rot="5400000">
            <a:off x="7285050" y="1828791"/>
            <a:ext cx="5851500" cy="2743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 type="body"/>
          </p:nvPr>
        </p:nvSpPr>
        <p:spPr>
          <a:xfrm rot="5400000">
            <a:off x="1697000" y="-812859"/>
            <a:ext cx="5851500" cy="8026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1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FF0000"/>
              </a:buClr>
              <a:buSzPts val="2800"/>
              <a:buFont typeface="Verdana"/>
              <a:buNone/>
              <a:defRPr b="1" i="0" sz="2800" u="none" cap="none" strike="noStrike">
                <a:solidFill>
                  <a:srgbClr val="FF0000"/>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Verdana"/>
                <a:ea typeface="Verdana"/>
                <a:cs typeface="Verdana"/>
                <a:sym typeface="Verdana"/>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9pPr>
          </a:lstStyle>
          <a:p/>
        </p:txBody>
      </p:sp>
      <p:sp>
        <p:nvSpPr>
          <p:cNvPr id="8" name="Google Shape;8;p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9" name="Google Shape;9;p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10" name="Google Shape;10;p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cxnSp>
        <p:nvCxnSpPr>
          <p:cNvPr id="11" name="Google Shape;11;p1"/>
          <p:cNvCxnSpPr/>
          <p:nvPr/>
        </p:nvCxnSpPr>
        <p:spPr>
          <a:xfrm>
            <a:off x="812800" y="914400"/>
            <a:ext cx="10668000" cy="0"/>
          </a:xfrm>
          <a:prstGeom prst="straightConnector1">
            <a:avLst/>
          </a:prstGeom>
          <a:noFill/>
          <a:ln cap="flat" cmpd="thickThin" w="57150">
            <a:solidFill>
              <a:schemeClr val="dk1"/>
            </a:solidFill>
            <a:prstDash val="solid"/>
            <a:round/>
            <a:headEnd len="sm" w="sm" type="none"/>
            <a:tailEnd len="sm" w="sm" type="none"/>
          </a:ln>
        </p:spPr>
      </p:cxnSp>
      <p:pic>
        <p:nvPicPr>
          <p:cNvPr id="12" name="Google Shape;12;p1"/>
          <p:cNvPicPr preferRelativeResize="0"/>
          <p:nvPr/>
        </p:nvPicPr>
        <p:blipFill rotWithShape="1">
          <a:blip r:embed="rId1">
            <a:alphaModFix/>
          </a:blip>
          <a:srcRect b="18045" l="0" r="0" t="0"/>
          <a:stretch/>
        </p:blipFill>
        <p:spPr>
          <a:xfrm>
            <a:off x="0" y="5991366"/>
            <a:ext cx="12192001" cy="86663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github.com/ashwin2947/cattle-ai"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ctrTitle"/>
          </p:nvPr>
        </p:nvSpPr>
        <p:spPr>
          <a:xfrm>
            <a:off x="790469" y="1069102"/>
            <a:ext cx="10363200" cy="96289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17365D"/>
              </a:buClr>
              <a:buSzPts val="2800"/>
              <a:buFont typeface="Verdana"/>
              <a:buNone/>
            </a:pPr>
            <a:r>
              <a:rPr lang="en-US" sz="2400">
                <a:solidFill>
                  <a:schemeClr val="dk1"/>
                </a:solidFill>
                <a:latin typeface="Cambria"/>
                <a:ea typeface="Cambria"/>
                <a:cs typeface="Cambria"/>
                <a:sym typeface="Cambria"/>
              </a:rPr>
              <a:t>A Deep Learning-Based Computer Vision System for Livestock Breed Classification and Physical Trait Estimation</a:t>
            </a:r>
            <a:endParaRPr sz="2400">
              <a:solidFill>
                <a:schemeClr val="dk1"/>
              </a:solidFill>
              <a:latin typeface="Cambria"/>
              <a:ea typeface="Cambria"/>
              <a:cs typeface="Cambria"/>
              <a:sym typeface="Cambria"/>
            </a:endParaRPr>
          </a:p>
        </p:txBody>
      </p:sp>
      <p:sp>
        <p:nvSpPr>
          <p:cNvPr id="88" name="Google Shape;88;p13"/>
          <p:cNvSpPr txBox="1"/>
          <p:nvPr>
            <p:ph idx="1" type="subTitle"/>
          </p:nvPr>
        </p:nvSpPr>
        <p:spPr>
          <a:xfrm>
            <a:off x="790468" y="2045352"/>
            <a:ext cx="4391131" cy="552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17365D"/>
              </a:buClr>
              <a:buSzPts val="2000"/>
              <a:buNone/>
            </a:pPr>
            <a:r>
              <a:rPr lang="en-US" sz="1800">
                <a:latin typeface="Cambria"/>
                <a:ea typeface="Cambria"/>
                <a:cs typeface="Cambria"/>
                <a:sym typeface="Cambria"/>
              </a:rPr>
              <a:t>Batch Number: CAI_26</a:t>
            </a:r>
            <a:endParaRPr sz="1800">
              <a:latin typeface="Cambria"/>
              <a:ea typeface="Cambria"/>
              <a:cs typeface="Cambria"/>
              <a:sym typeface="Cambria"/>
            </a:endParaRPr>
          </a:p>
        </p:txBody>
      </p:sp>
      <p:sp>
        <p:nvSpPr>
          <p:cNvPr id="89" name="Google Shape;89;p13"/>
          <p:cNvSpPr txBox="1"/>
          <p:nvPr/>
        </p:nvSpPr>
        <p:spPr>
          <a:xfrm>
            <a:off x="6480195" y="2513340"/>
            <a:ext cx="5514300" cy="2020560"/>
          </a:xfrm>
          <a:prstGeom prst="rect">
            <a:avLst/>
          </a:prstGeom>
          <a:noFill/>
          <a:ln>
            <a:noFill/>
          </a:ln>
        </p:spPr>
        <p:txBody>
          <a:bodyPr anchorCtr="0" anchor="t" bIns="45700" lIns="91425" spcFirstLastPara="1" rIns="91425" wrap="square" tIns="45700">
            <a:normAutofit lnSpcReduction="20000"/>
          </a:bodyPr>
          <a:lstStyle/>
          <a:p>
            <a:pPr indent="0" lvl="0" marL="0" marR="0" rtl="0" algn="ctr">
              <a:lnSpc>
                <a:spcPct val="100000"/>
              </a:lnSpc>
              <a:spcBef>
                <a:spcPts val="0"/>
              </a:spcBef>
              <a:spcAft>
                <a:spcPts val="0"/>
              </a:spcAft>
              <a:buClr>
                <a:srgbClr val="17365D"/>
              </a:buClr>
              <a:buSzPts val="2000"/>
              <a:buFont typeface="Arial"/>
              <a:buNone/>
            </a:pPr>
            <a:r>
              <a:rPr b="1" i="0" lang="en-US" sz="1800" u="none" cap="none" strike="noStrike">
                <a:solidFill>
                  <a:srgbClr val="17365D"/>
                </a:solidFill>
                <a:latin typeface="Cambria"/>
                <a:ea typeface="Cambria"/>
                <a:cs typeface="Cambria"/>
                <a:sym typeface="Cambria"/>
              </a:rPr>
              <a:t>Under the Supervision of,</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Mr. Jai Kumar B</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Assistant Professor</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School of Computer Science and Engineering</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Presidency University</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p:txBody>
      </p:sp>
      <p:graphicFrame>
        <p:nvGraphicFramePr>
          <p:cNvPr id="90" name="Google Shape;90;p13"/>
          <p:cNvGraphicFramePr/>
          <p:nvPr/>
        </p:nvGraphicFramePr>
        <p:xfrm>
          <a:off x="553347" y="2721840"/>
          <a:ext cx="3000000" cy="3000000"/>
        </p:xfrm>
        <a:graphic>
          <a:graphicData uri="http://schemas.openxmlformats.org/drawingml/2006/table">
            <a:tbl>
              <a:tblPr bandRow="1" firstRow="1">
                <a:noFill/>
                <a:tableStyleId>{85B688FF-22C9-44D7-B8E5-E36FD479B787}</a:tableStyleId>
              </a:tblPr>
              <a:tblGrid>
                <a:gridCol w="2085000"/>
                <a:gridCol w="3333675"/>
              </a:tblGrid>
              <a:tr h="306250">
                <a:tc>
                  <a:txBody>
                    <a:bodyPr/>
                    <a:lstStyle/>
                    <a:p>
                      <a:pPr indent="0" lvl="1"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Roll Number</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Student Name</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7365D"/>
              </a:buClr>
              <a:buSzPts val="1800"/>
              <a:buFont typeface="Arial"/>
              <a:buNone/>
            </a:pPr>
            <a:r>
              <a:rPr b="1" lang="en-US" sz="1800">
                <a:solidFill>
                  <a:srgbClr val="17365D"/>
                </a:solidFill>
                <a:latin typeface="Cambria"/>
                <a:ea typeface="Cambria"/>
                <a:cs typeface="Cambria"/>
                <a:sym typeface="Cambria"/>
              </a:rPr>
              <a:t>CSE7302</a:t>
            </a:r>
            <a:r>
              <a:rPr b="1" i="0" lang="en-US" sz="1800" u="none" cap="none" strike="noStrike">
                <a:solidFill>
                  <a:srgbClr val="17365D"/>
                </a:solidFill>
                <a:latin typeface="Cambria"/>
                <a:ea typeface="Cambria"/>
                <a:cs typeface="Cambria"/>
                <a:sym typeface="Cambria"/>
              </a:rPr>
              <a:t>- </a:t>
            </a:r>
            <a:r>
              <a:rPr b="1" lang="en-US" sz="1800">
                <a:solidFill>
                  <a:srgbClr val="17365D"/>
                </a:solidFill>
                <a:latin typeface="Cambria"/>
                <a:ea typeface="Cambria"/>
                <a:cs typeface="Cambria"/>
                <a:sym typeface="Cambria"/>
              </a:rPr>
              <a:t>University</a:t>
            </a:r>
            <a:r>
              <a:rPr b="1" i="0" lang="en-US" sz="1800" u="none" cap="none" strike="noStrike">
                <a:solidFill>
                  <a:srgbClr val="17365D"/>
                </a:solidFill>
                <a:latin typeface="Cambria"/>
                <a:ea typeface="Cambria"/>
                <a:cs typeface="Cambria"/>
                <a:sym typeface="Cambria"/>
              </a:rPr>
              <a:t> Project</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310"/>
              </a:spcBef>
              <a:spcAft>
                <a:spcPts val="0"/>
              </a:spcAft>
              <a:buClr>
                <a:srgbClr val="17365D"/>
              </a:buClr>
              <a:buSzPts val="1800"/>
              <a:buFont typeface="Arial"/>
              <a:buNone/>
            </a:pPr>
            <a:r>
              <a:rPr b="1" i="0" lang="en-US" sz="1800" u="none" cap="none" strike="noStrike">
                <a:solidFill>
                  <a:srgbClr val="17365D"/>
                </a:solidFill>
                <a:latin typeface="Cambria"/>
                <a:ea typeface="Cambria"/>
                <a:cs typeface="Cambria"/>
                <a:sym typeface="Cambria"/>
              </a:rPr>
              <a:t>Review-1</a:t>
            </a:r>
            <a:endParaRPr b="1" i="0" sz="1800" u="none" cap="none" strike="noStrike">
              <a:solidFill>
                <a:srgbClr val="17365D"/>
              </a:solidFill>
              <a:latin typeface="Cambria"/>
              <a:ea typeface="Cambria"/>
              <a:cs typeface="Cambria"/>
              <a:sym typeface="Cambria"/>
            </a:endParaRPr>
          </a:p>
        </p:txBody>
      </p:sp>
      <p:sp>
        <p:nvSpPr>
          <p:cNvPr id="92" name="Google Shape;92;p13"/>
          <p:cNvSpPr txBox="1"/>
          <p:nvPr/>
        </p:nvSpPr>
        <p:spPr>
          <a:xfrm>
            <a:off x="790474" y="4533900"/>
            <a:ext cx="11459400" cy="156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Program: </a:t>
            </a:r>
            <a:r>
              <a:rPr b="1" i="0" lang="en-US" sz="1800" u="none" cap="none" strike="noStrike">
                <a:solidFill>
                  <a:srgbClr val="FF0000"/>
                </a:solidFill>
                <a:latin typeface="Cambria"/>
                <a:ea typeface="Cambria"/>
                <a:cs typeface="Cambria"/>
                <a:sym typeface="Cambria"/>
              </a:rPr>
              <a:t>B.Tech CAI</a:t>
            </a:r>
            <a:endParaRPr b="0"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HoD: </a:t>
            </a:r>
            <a:r>
              <a:rPr b="1" i="0" lang="en-US" sz="1800" u="none" cap="none" strike="noStrike">
                <a:solidFill>
                  <a:srgbClr val="FF0000"/>
                </a:solidFill>
                <a:latin typeface="Cambria"/>
                <a:ea typeface="Cambria"/>
                <a:cs typeface="Cambria"/>
                <a:sym typeface="Cambria"/>
              </a:rPr>
              <a:t>Dr. Zafar Ali Khan 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1"/>
                </a:solidFill>
                <a:latin typeface="Cambria"/>
                <a:ea typeface="Cambria"/>
                <a:cs typeface="Cambria"/>
                <a:sym typeface="Cambria"/>
              </a:rPr>
              <a:t>Name of the Program Project Coordinator: </a:t>
            </a:r>
            <a:r>
              <a:rPr b="1" i="0" lang="en-US" sz="1800" u="none" cap="none" strike="noStrike">
                <a:solidFill>
                  <a:srgbClr val="FF0000"/>
                </a:solidFill>
                <a:latin typeface="Cambria"/>
                <a:ea typeface="Cambria"/>
                <a:cs typeface="Cambria"/>
                <a:sym typeface="Cambria"/>
              </a:rPr>
              <a:t>Dr. Afroz Pasha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1"/>
                </a:solidFill>
                <a:latin typeface="Cambria"/>
                <a:ea typeface="Cambria"/>
                <a:cs typeface="Cambria"/>
                <a:sym typeface="Cambria"/>
              </a:rPr>
              <a:t>Name of the School Project Coordinators: </a:t>
            </a:r>
            <a:r>
              <a:rPr b="1" i="0" lang="en-US" sz="1800" u="none" cap="none" strike="noStrike">
                <a:solidFill>
                  <a:schemeClr val="dk1"/>
                </a:solidFill>
                <a:latin typeface="Cambria"/>
                <a:ea typeface="Cambria"/>
                <a:cs typeface="Cambria"/>
                <a:sym typeface="Cambria"/>
              </a:rPr>
              <a:t>Dr. Sampath A K , Dr. Geetha A </a:t>
            </a:r>
            <a:endParaRPr b="1" i="0" sz="1800" u="none" cap="none" strike="noStrike">
              <a:solidFill>
                <a:schemeClr val="dk1"/>
              </a:solidFill>
              <a:latin typeface="Cambria"/>
              <a:ea typeface="Cambria"/>
              <a:cs typeface="Cambria"/>
              <a:sym typeface="Cambria"/>
            </a:endParaRPr>
          </a:p>
        </p:txBody>
      </p:sp>
      <p:graphicFrame>
        <p:nvGraphicFramePr>
          <p:cNvPr id="93" name="Google Shape;93;p13"/>
          <p:cNvGraphicFramePr/>
          <p:nvPr/>
        </p:nvGraphicFramePr>
        <p:xfrm>
          <a:off x="790450" y="3163375"/>
          <a:ext cx="3000000" cy="3000000"/>
        </p:xfrm>
        <a:graphic>
          <a:graphicData uri="http://schemas.openxmlformats.org/drawingml/2006/table">
            <a:tbl>
              <a:tblPr>
                <a:noFill/>
                <a:tableStyleId>{EB14C0F7-AFF7-4032-81C4-5516D25C67C0}</a:tableStyleId>
              </a:tblPr>
              <a:tblGrid>
                <a:gridCol w="2590800"/>
                <a:gridCol w="25908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20221CAI0042</a:t>
                      </a:r>
                      <a:endParaRPr b="1" sz="14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ASHWIN R</a:t>
                      </a:r>
                      <a:endParaRPr b="1" sz="1400" u="none" cap="none" strike="noStrike">
                        <a:latin typeface="Cambria"/>
                        <a:ea typeface="Cambria"/>
                        <a:cs typeface="Cambria"/>
                        <a:sym typeface="Cambria"/>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Cambria"/>
                          <a:ea typeface="Cambria"/>
                          <a:cs typeface="Cambria"/>
                          <a:sym typeface="Cambria"/>
                        </a:rPr>
                        <a:t>20221CAI0026</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SACHIN S</a:t>
                      </a:r>
                      <a:endParaRPr b="1" sz="1400" u="none" cap="none" strike="noStrike">
                        <a:latin typeface="Cambria"/>
                        <a:ea typeface="Cambria"/>
                        <a:cs typeface="Cambria"/>
                        <a:sym typeface="Cambria"/>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Cambria"/>
                          <a:ea typeface="Cambria"/>
                          <a:cs typeface="Cambria"/>
                          <a:sym typeface="Cambria"/>
                        </a:rPr>
                        <a:t>20221CAI0017</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HARSHIT B</a:t>
                      </a:r>
                      <a:endParaRPr b="1" sz="1400" u="none" cap="none" strike="noStrike">
                        <a:latin typeface="Cambria"/>
                        <a:ea typeface="Cambria"/>
                        <a:cs typeface="Cambria"/>
                        <a:sym typeface="Cambria"/>
                      </a:endParaRPr>
                    </a:p>
                  </a:txBody>
                  <a:tcPr marT="91425" marB="91425" marR="91425" marL="91425"/>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Problem Statement Number: SIH25004</a:t>
            </a:r>
            <a:endParaRPr>
              <a:latin typeface="Cambria"/>
              <a:ea typeface="Cambria"/>
              <a:cs typeface="Cambria"/>
              <a:sym typeface="Cambria"/>
            </a:endParaRPr>
          </a:p>
        </p:txBody>
      </p:sp>
      <p:sp>
        <p:nvSpPr>
          <p:cNvPr id="99" name="Google Shape;99;p14"/>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80000"/>
              </a:lnSpc>
              <a:spcBef>
                <a:spcPts val="0"/>
              </a:spcBef>
              <a:spcAft>
                <a:spcPts val="0"/>
              </a:spcAft>
              <a:buSzPts val="1680"/>
              <a:buNone/>
            </a:pPr>
            <a:r>
              <a:rPr b="1" lang="en-US" sz="1800">
                <a:latin typeface="Arial"/>
                <a:ea typeface="Arial"/>
                <a:cs typeface="Arial"/>
                <a:sym typeface="Arial"/>
              </a:rPr>
              <a:t>Organization:</a:t>
            </a:r>
            <a:r>
              <a:rPr lang="en-US" sz="1800">
                <a:latin typeface="Arial"/>
                <a:ea typeface="Arial"/>
                <a:cs typeface="Arial"/>
                <a:sym typeface="Arial"/>
              </a:rPr>
              <a:t> “</a:t>
            </a:r>
            <a:r>
              <a:rPr lang="en-US" sz="1800">
                <a:latin typeface="Arial"/>
                <a:ea typeface="Arial"/>
                <a:cs typeface="Arial"/>
                <a:sym typeface="Arial"/>
              </a:rPr>
              <a:t>Department of Animal Husbandry &amp; Dairying, Government of India</a:t>
            </a:r>
            <a:r>
              <a:rPr lang="en-US" sz="1800">
                <a:latin typeface="Arial"/>
                <a:ea typeface="Arial"/>
                <a:cs typeface="Arial"/>
                <a:sym typeface="Arial"/>
              </a:rPr>
              <a:t>”</a:t>
            </a:r>
            <a:endParaRPr sz="1800">
              <a:latin typeface="Arial"/>
              <a:ea typeface="Arial"/>
              <a:cs typeface="Arial"/>
              <a:sym typeface="Arial"/>
            </a:endParaRPr>
          </a:p>
          <a:p>
            <a:pPr indent="-190500" lvl="0" marL="342900" rtl="0" algn="just">
              <a:lnSpc>
                <a:spcPct val="80000"/>
              </a:lnSpc>
              <a:spcBef>
                <a:spcPts val="0"/>
              </a:spcBef>
              <a:spcAft>
                <a:spcPts val="0"/>
              </a:spcAft>
              <a:buSzPts val="1680"/>
              <a:buNone/>
            </a:pPr>
            <a:r>
              <a:t/>
            </a:r>
            <a:endParaRPr b="1" sz="1800">
              <a:latin typeface="Arial"/>
              <a:ea typeface="Arial"/>
              <a:cs typeface="Arial"/>
              <a:sym typeface="Arial"/>
            </a:endParaRPr>
          </a:p>
          <a:p>
            <a:pPr indent="-190500" lvl="0" marL="342900" rtl="0" algn="just">
              <a:lnSpc>
                <a:spcPct val="180000"/>
              </a:lnSpc>
              <a:spcBef>
                <a:spcPts val="0"/>
              </a:spcBef>
              <a:spcAft>
                <a:spcPts val="0"/>
              </a:spcAft>
              <a:buSzPts val="1680"/>
              <a:buNone/>
            </a:pPr>
            <a:r>
              <a:rPr b="1" lang="en-US" sz="1800">
                <a:latin typeface="Arial"/>
                <a:ea typeface="Arial"/>
                <a:cs typeface="Arial"/>
                <a:sym typeface="Arial"/>
              </a:rPr>
              <a:t>Category (Hardware / Software / Both) :</a:t>
            </a:r>
            <a:r>
              <a:rPr lang="en-US" sz="1800">
                <a:latin typeface="Arial"/>
                <a:ea typeface="Arial"/>
                <a:cs typeface="Arial"/>
                <a:sym typeface="Arial"/>
              </a:rPr>
              <a:t> “Software”</a:t>
            </a:r>
            <a:endParaRPr sz="1800">
              <a:latin typeface="Arial"/>
              <a:ea typeface="Arial"/>
              <a:cs typeface="Arial"/>
              <a:sym typeface="Arial"/>
            </a:endParaRPr>
          </a:p>
          <a:p>
            <a:pPr indent="-190500" lvl="0" marL="342900" rtl="0" algn="just">
              <a:lnSpc>
                <a:spcPct val="180000"/>
              </a:lnSpc>
              <a:spcBef>
                <a:spcPts val="0"/>
              </a:spcBef>
              <a:spcAft>
                <a:spcPts val="0"/>
              </a:spcAft>
              <a:buSzPts val="1680"/>
              <a:buNone/>
            </a:pPr>
            <a:r>
              <a:rPr b="1" lang="en-US" sz="1800">
                <a:latin typeface="Arial"/>
                <a:ea typeface="Arial"/>
                <a:cs typeface="Arial"/>
                <a:sym typeface="Arial"/>
              </a:rPr>
              <a:t>Problem Description:</a:t>
            </a:r>
            <a:r>
              <a:rPr lang="en-US" sz="1800">
                <a:latin typeface="Arial"/>
                <a:ea typeface="Arial"/>
                <a:cs typeface="Arial"/>
                <a:sym typeface="Arial"/>
              </a:rPr>
              <a:t> “</a:t>
            </a:r>
            <a:r>
              <a:rPr lang="en-US" sz="1800">
                <a:latin typeface="Arial"/>
                <a:ea typeface="Arial"/>
                <a:cs typeface="Arial"/>
                <a:sym typeface="Arial"/>
              </a:rPr>
              <a:t>Accurate identification of livestock breeds and assessment of physical traits are essential for effective livestock management, breeding programs, and maintaining national animal databases. Currently, this process is largely manual, relying on visual inspection by experts, which is time-consuming, subjective, and difficult to scale. The problem statement focuses on developing a software-based intelligent system that can automatically identify livestock breeds and analyze physical traits from images using modern artificial intelligence techniques.</a:t>
            </a:r>
            <a:r>
              <a:rPr lang="en-US" sz="1800">
                <a:latin typeface="Arial"/>
                <a:ea typeface="Arial"/>
                <a:cs typeface="Arial"/>
                <a:sym typeface="Arial"/>
              </a:rPr>
              <a:t>”</a:t>
            </a:r>
            <a:endParaRPr sz="18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Content</a:t>
            </a:r>
            <a:endParaRPr>
              <a:latin typeface="Cambria"/>
              <a:ea typeface="Cambria"/>
              <a:cs typeface="Cambria"/>
              <a:sym typeface="Cambria"/>
            </a:endParaRPr>
          </a:p>
        </p:txBody>
      </p:sp>
      <p:sp>
        <p:nvSpPr>
          <p:cNvPr id="105" name="Google Shape;105;p15"/>
          <p:cNvSpPr txBox="1"/>
          <p:nvPr>
            <p:ph idx="1" type="body"/>
          </p:nvPr>
        </p:nvSpPr>
        <p:spPr>
          <a:xfrm>
            <a:off x="762000" y="1091025"/>
            <a:ext cx="10668000" cy="4903800"/>
          </a:xfrm>
          <a:prstGeom prst="rect">
            <a:avLst/>
          </a:prstGeom>
          <a:noFill/>
          <a:ln>
            <a:noFill/>
          </a:ln>
        </p:spPr>
        <p:txBody>
          <a:bodyPr anchorCtr="0" anchor="t" bIns="45700" lIns="91425" spcFirstLastPara="1" rIns="91425" wrap="square" tIns="45700">
            <a:noAutofit/>
          </a:bodyPr>
          <a:lstStyle/>
          <a:p>
            <a:pPr indent="0" lvl="0" marL="0" rtl="0" algn="just">
              <a:lnSpc>
                <a:spcPct val="200000"/>
              </a:lnSpc>
              <a:spcBef>
                <a:spcPts val="0"/>
              </a:spcBef>
              <a:spcAft>
                <a:spcPts val="0"/>
              </a:spcAft>
              <a:buSzPts val="523"/>
              <a:buNone/>
            </a:pPr>
            <a:r>
              <a:rPr b="1" lang="en-US" sz="1840" u="sng">
                <a:latin typeface="Arial"/>
                <a:ea typeface="Arial"/>
                <a:cs typeface="Arial"/>
                <a:sym typeface="Arial"/>
              </a:rPr>
              <a:t>Problem Statement</a:t>
            </a:r>
            <a:endParaRPr sz="1840" u="sng">
              <a:latin typeface="Arial"/>
              <a:ea typeface="Arial"/>
              <a:cs typeface="Arial"/>
              <a:sym typeface="Arial"/>
            </a:endParaRPr>
          </a:p>
          <a:p>
            <a:pPr indent="457200" lvl="0" marL="457200" rtl="0" algn="just">
              <a:lnSpc>
                <a:spcPct val="150000"/>
              </a:lnSpc>
              <a:spcBef>
                <a:spcPts val="0"/>
              </a:spcBef>
              <a:spcAft>
                <a:spcPts val="0"/>
              </a:spcAft>
              <a:buSzPts val="523"/>
              <a:buNone/>
            </a:pPr>
            <a:r>
              <a:rPr lang="en-US" sz="1800">
                <a:latin typeface="Arial"/>
                <a:ea typeface="Arial"/>
                <a:cs typeface="Arial"/>
                <a:sym typeface="Arial"/>
              </a:rPr>
              <a:t>Automated, scalable, and reliable systems have yet to be developed that correctly identify livestock breeds or determine their physical characteristics from visual data. The existing manual methods are subject to human error, inconsistency, and high operating costs. This project is an attempt to create an automated, efficient, computer vision deep learning approach to classify livestock breeds from photographic images and derive other relevant physical characteristics.</a:t>
            </a:r>
            <a:endParaRPr sz="1800">
              <a:latin typeface="Arial"/>
              <a:ea typeface="Arial"/>
              <a:cs typeface="Arial"/>
              <a:sym typeface="Arial"/>
            </a:endParaRPr>
          </a:p>
          <a:p>
            <a:pPr indent="-190500" lvl="0" marL="495300" rtl="0" algn="just">
              <a:lnSpc>
                <a:spcPct val="200000"/>
              </a:lnSpc>
              <a:spcBef>
                <a:spcPts val="0"/>
              </a:spcBef>
              <a:spcAft>
                <a:spcPts val="0"/>
              </a:spcAft>
              <a:buClr>
                <a:schemeClr val="dk1"/>
              </a:buClr>
              <a:buSzPts val="1629"/>
              <a:buFont typeface="Noto Sans Symbols"/>
              <a:buNone/>
            </a:pPr>
            <a:r>
              <a:t/>
            </a:r>
            <a:endParaRPr sz="1540">
              <a:latin typeface="Arial"/>
              <a:ea typeface="Arial"/>
              <a:cs typeface="Arial"/>
              <a:sym typeface="Arial"/>
            </a:endParaRPr>
          </a:p>
          <a:p>
            <a:pPr indent="-190500" lvl="0" marL="495300" rtl="0" algn="just">
              <a:lnSpc>
                <a:spcPct val="200000"/>
              </a:lnSpc>
              <a:spcBef>
                <a:spcPts val="0"/>
              </a:spcBef>
              <a:spcAft>
                <a:spcPts val="0"/>
              </a:spcAft>
              <a:buClr>
                <a:schemeClr val="dk1"/>
              </a:buClr>
              <a:buSzPts val="1629"/>
              <a:buFont typeface="Noto Sans Symbols"/>
              <a:buNone/>
            </a:pPr>
            <a:r>
              <a:t/>
            </a:r>
            <a:endParaRPr sz="1540">
              <a:latin typeface="Arial"/>
              <a:ea typeface="Arial"/>
              <a:cs typeface="Arial"/>
              <a:sym typeface="Arial"/>
            </a:endParaRPr>
          </a:p>
          <a:p>
            <a:pPr indent="-190500" lvl="0" marL="495300" rtl="0" algn="just">
              <a:lnSpc>
                <a:spcPct val="200000"/>
              </a:lnSpc>
              <a:spcBef>
                <a:spcPts val="0"/>
              </a:spcBef>
              <a:spcAft>
                <a:spcPts val="0"/>
              </a:spcAft>
              <a:buClr>
                <a:schemeClr val="dk1"/>
              </a:buClr>
              <a:buSzPts val="1629"/>
              <a:buFont typeface="Noto Sans Symbols"/>
              <a:buNone/>
            </a:pPr>
            <a:r>
              <a:t/>
            </a:r>
            <a:endParaRPr sz="154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Content</a:t>
            </a:r>
            <a:endParaRPr>
              <a:latin typeface="Cambria"/>
              <a:ea typeface="Cambria"/>
              <a:cs typeface="Cambria"/>
              <a:sym typeface="Cambria"/>
            </a:endParaRPr>
          </a:p>
        </p:txBody>
      </p:sp>
      <p:sp>
        <p:nvSpPr>
          <p:cNvPr id="111" name="Google Shape;111;p16"/>
          <p:cNvSpPr txBox="1"/>
          <p:nvPr/>
        </p:nvSpPr>
        <p:spPr>
          <a:xfrm>
            <a:off x="855250" y="1134025"/>
            <a:ext cx="10583100" cy="488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1" i="0" lang="en-US" sz="1800" u="sng" cap="none" strike="noStrike">
                <a:solidFill>
                  <a:schemeClr val="dk1"/>
                </a:solidFill>
              </a:rPr>
              <a:t>Objectives</a:t>
            </a:r>
            <a:endParaRPr b="1" i="0" sz="1800" u="sng" cap="none" strike="noStrike">
              <a:solidFill>
                <a:schemeClr val="dk1"/>
              </a:solidFill>
            </a:endParaRPr>
          </a:p>
          <a:p>
            <a:pPr indent="0" lvl="0" marL="0" marR="0" rtl="0" algn="l">
              <a:lnSpc>
                <a:spcPct val="100000"/>
              </a:lnSpc>
              <a:spcBef>
                <a:spcPts val="0"/>
              </a:spcBef>
              <a:spcAft>
                <a:spcPts val="0"/>
              </a:spcAft>
              <a:buClr>
                <a:srgbClr val="000000"/>
              </a:buClr>
              <a:buSzPts val="1500"/>
              <a:buFont typeface="Arial"/>
              <a:buNone/>
            </a:pPr>
            <a:r>
              <a:rPr b="1" i="0" lang="en-US" sz="1800" u="none" cap="none" strike="noStrike">
                <a:solidFill>
                  <a:schemeClr val="dk1"/>
                </a:solidFill>
              </a:rPr>
              <a:t>	</a:t>
            </a:r>
            <a:endParaRPr b="1" i="0" sz="1800" u="none" cap="none" strike="noStrike">
              <a:solidFill>
                <a:schemeClr val="dk1"/>
              </a:solidFill>
            </a:endParaRPr>
          </a:p>
          <a:p>
            <a:pPr indent="0" lvl="0" marL="0" marR="0" rtl="0" algn="l">
              <a:lnSpc>
                <a:spcPct val="150000"/>
              </a:lnSpc>
              <a:spcBef>
                <a:spcPts val="0"/>
              </a:spcBef>
              <a:spcAft>
                <a:spcPts val="0"/>
              </a:spcAft>
              <a:buNone/>
            </a:pPr>
            <a:r>
              <a:rPr lang="en-US" sz="1800">
                <a:solidFill>
                  <a:schemeClr val="dk1"/>
                </a:solidFill>
              </a:rPr>
              <a:t>The primary objectives of this project are:</a:t>
            </a:r>
            <a:endParaRPr sz="1800">
              <a:solidFill>
                <a:schemeClr val="dk1"/>
              </a:solidFill>
            </a:endParaRPr>
          </a:p>
          <a:p>
            <a:pPr indent="-342900" lvl="0" marL="457200" marR="0" rtl="0" algn="l">
              <a:lnSpc>
                <a:spcPct val="150000"/>
              </a:lnSpc>
              <a:spcBef>
                <a:spcPts val="0"/>
              </a:spcBef>
              <a:spcAft>
                <a:spcPts val="0"/>
              </a:spcAft>
              <a:buClr>
                <a:schemeClr val="dk1"/>
              </a:buClr>
              <a:buSzPts val="1800"/>
              <a:buAutoNum type="arabicPeriod"/>
            </a:pPr>
            <a:r>
              <a:rPr lang="en-US" sz="1800">
                <a:solidFill>
                  <a:schemeClr val="dk1"/>
                </a:solidFill>
              </a:rPr>
              <a:t>To </a:t>
            </a:r>
            <a:r>
              <a:rPr b="1" lang="en-US" sz="1800">
                <a:solidFill>
                  <a:schemeClr val="dk1"/>
                </a:solidFill>
              </a:rPr>
              <a:t>design and develop a deep learning based computer vision system</a:t>
            </a:r>
            <a:r>
              <a:rPr lang="en-US" sz="1800">
                <a:solidFill>
                  <a:schemeClr val="dk1"/>
                </a:solidFill>
              </a:rPr>
              <a:t> for livestock breed classification.</a:t>
            </a:r>
            <a:endParaRPr sz="1800">
              <a:solidFill>
                <a:schemeClr val="dk1"/>
              </a:solidFill>
            </a:endParaRPr>
          </a:p>
          <a:p>
            <a:pPr indent="-342900" lvl="0" marL="457200" marR="0" rtl="0" algn="l">
              <a:lnSpc>
                <a:spcPct val="150000"/>
              </a:lnSpc>
              <a:spcBef>
                <a:spcPts val="0"/>
              </a:spcBef>
              <a:spcAft>
                <a:spcPts val="0"/>
              </a:spcAft>
              <a:buClr>
                <a:schemeClr val="dk1"/>
              </a:buClr>
              <a:buSzPts val="1800"/>
              <a:buAutoNum type="arabicPeriod"/>
            </a:pPr>
            <a:r>
              <a:rPr lang="en-US" sz="1800">
                <a:solidFill>
                  <a:schemeClr val="dk1"/>
                </a:solidFill>
              </a:rPr>
              <a:t>To implement a </a:t>
            </a:r>
            <a:r>
              <a:rPr b="1" lang="en-US" sz="1800">
                <a:solidFill>
                  <a:schemeClr val="dk1"/>
                </a:solidFill>
              </a:rPr>
              <a:t>multi-task learning framework</a:t>
            </a:r>
            <a:r>
              <a:rPr lang="en-US" sz="1800">
                <a:solidFill>
                  <a:schemeClr val="dk1"/>
                </a:solidFill>
              </a:rPr>
              <a:t> that simultaneously performs breed classification and physical trait estimation.</a:t>
            </a:r>
            <a:endParaRPr sz="1800">
              <a:solidFill>
                <a:schemeClr val="dk1"/>
              </a:solidFill>
            </a:endParaRPr>
          </a:p>
          <a:p>
            <a:pPr indent="-342900" lvl="0" marL="457200" marR="0" rtl="0" algn="l">
              <a:lnSpc>
                <a:spcPct val="150000"/>
              </a:lnSpc>
              <a:spcBef>
                <a:spcPts val="0"/>
              </a:spcBef>
              <a:spcAft>
                <a:spcPts val="0"/>
              </a:spcAft>
              <a:buClr>
                <a:schemeClr val="dk1"/>
              </a:buClr>
              <a:buSzPts val="1800"/>
              <a:buAutoNum type="arabicPeriod"/>
            </a:pPr>
            <a:r>
              <a:rPr lang="en-US" sz="1800">
                <a:solidFill>
                  <a:schemeClr val="dk1"/>
                </a:solidFill>
              </a:rPr>
              <a:t>To </a:t>
            </a:r>
            <a:r>
              <a:rPr b="1" lang="en-US" sz="1800">
                <a:solidFill>
                  <a:schemeClr val="dk1"/>
                </a:solidFill>
              </a:rPr>
              <a:t>evaluate and compare different transfer learning model</a:t>
            </a:r>
            <a:r>
              <a:rPr lang="en-US" sz="1800">
                <a:solidFill>
                  <a:schemeClr val="dk1"/>
                </a:solidFill>
              </a:rPr>
              <a:t>s for performance and efficiency.</a:t>
            </a:r>
            <a:endParaRPr sz="1800">
              <a:solidFill>
                <a:schemeClr val="dk1"/>
              </a:solidFill>
            </a:endParaRPr>
          </a:p>
          <a:p>
            <a:pPr indent="-342900" lvl="0" marL="457200" marR="0" rtl="0" algn="l">
              <a:lnSpc>
                <a:spcPct val="150000"/>
              </a:lnSpc>
              <a:spcBef>
                <a:spcPts val="0"/>
              </a:spcBef>
              <a:spcAft>
                <a:spcPts val="0"/>
              </a:spcAft>
              <a:buClr>
                <a:schemeClr val="dk1"/>
              </a:buClr>
              <a:buSzPts val="1800"/>
              <a:buAutoNum type="arabicPeriod"/>
            </a:pPr>
            <a:r>
              <a:rPr lang="en-US" sz="1800">
                <a:solidFill>
                  <a:schemeClr val="dk1"/>
                </a:solidFill>
              </a:rPr>
              <a:t>To i</a:t>
            </a:r>
            <a:r>
              <a:rPr b="1" lang="en-US" sz="1800">
                <a:solidFill>
                  <a:schemeClr val="dk1"/>
                </a:solidFill>
              </a:rPr>
              <a:t>ntegrate explainable AI </a:t>
            </a:r>
            <a:r>
              <a:rPr lang="en-US" sz="1800">
                <a:solidFill>
                  <a:schemeClr val="dk1"/>
                </a:solidFill>
              </a:rPr>
              <a:t>techniques to interpret and visualize model predictions.</a:t>
            </a:r>
            <a:endParaRPr sz="1800">
              <a:solidFill>
                <a:schemeClr val="dk1"/>
              </a:solidFill>
            </a:endParaRPr>
          </a:p>
          <a:p>
            <a:pPr indent="-342900" lvl="0" marL="457200" marR="0" rtl="0" algn="l">
              <a:lnSpc>
                <a:spcPct val="150000"/>
              </a:lnSpc>
              <a:spcBef>
                <a:spcPts val="0"/>
              </a:spcBef>
              <a:spcAft>
                <a:spcPts val="0"/>
              </a:spcAft>
              <a:buClr>
                <a:schemeClr val="dk1"/>
              </a:buClr>
              <a:buSzPts val="1800"/>
              <a:buAutoNum type="arabicPeriod"/>
            </a:pPr>
            <a:r>
              <a:rPr lang="en-US" sz="1800">
                <a:solidFill>
                  <a:schemeClr val="dk1"/>
                </a:solidFill>
              </a:rPr>
              <a:t>To provide a </a:t>
            </a:r>
            <a:r>
              <a:rPr b="1" lang="en-US" sz="1800">
                <a:solidFill>
                  <a:schemeClr val="dk1"/>
                </a:solidFill>
              </a:rPr>
              <a:t>scalable and deployable software solution</a:t>
            </a:r>
            <a:r>
              <a:rPr lang="en-US" sz="1800">
                <a:solidFill>
                  <a:schemeClr val="dk1"/>
                </a:solidFill>
              </a:rPr>
              <a:t> aligned with government and agricultural use cases.</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Content</a:t>
            </a:r>
            <a:endParaRPr>
              <a:latin typeface="Cambria"/>
              <a:ea typeface="Cambria"/>
              <a:cs typeface="Cambria"/>
              <a:sym typeface="Cambria"/>
            </a:endParaRPr>
          </a:p>
        </p:txBody>
      </p:sp>
      <p:sp>
        <p:nvSpPr>
          <p:cNvPr id="117" name="Google Shape;117;p17"/>
          <p:cNvSpPr txBox="1"/>
          <p:nvPr>
            <p:ph idx="1" type="body"/>
          </p:nvPr>
        </p:nvSpPr>
        <p:spPr>
          <a:xfrm>
            <a:off x="762000" y="1091025"/>
            <a:ext cx="10668000" cy="4874400"/>
          </a:xfrm>
          <a:prstGeom prst="rect">
            <a:avLst/>
          </a:prstGeom>
          <a:noFill/>
          <a:ln>
            <a:noFill/>
          </a:ln>
        </p:spPr>
        <p:txBody>
          <a:bodyPr anchorCtr="0" anchor="t" bIns="45700" lIns="91425" spcFirstLastPara="1" rIns="91425" wrap="square" tIns="45700">
            <a:noAutofit/>
          </a:bodyPr>
          <a:lstStyle/>
          <a:p>
            <a:pPr indent="0" lvl="0" marL="0" rtl="0" algn="just">
              <a:lnSpc>
                <a:spcPct val="200000"/>
              </a:lnSpc>
              <a:spcBef>
                <a:spcPts val="0"/>
              </a:spcBef>
              <a:spcAft>
                <a:spcPts val="0"/>
              </a:spcAft>
              <a:buSzPts val="523"/>
              <a:buNone/>
            </a:pPr>
            <a:r>
              <a:rPr b="1" lang="en-US" sz="1800" u="sng">
                <a:latin typeface="Arial"/>
                <a:ea typeface="Arial"/>
                <a:cs typeface="Arial"/>
                <a:sym typeface="Arial"/>
              </a:rPr>
              <a:t>Background and Related work for title Selection</a:t>
            </a:r>
            <a:endParaRPr b="1" sz="1800" u="sng">
              <a:latin typeface="Arial"/>
              <a:ea typeface="Arial"/>
              <a:cs typeface="Arial"/>
              <a:sym typeface="Arial"/>
            </a:endParaRPr>
          </a:p>
          <a:p>
            <a:pPr indent="0" lvl="0" marL="457200" rtl="0" algn="just">
              <a:lnSpc>
                <a:spcPct val="150000"/>
              </a:lnSpc>
              <a:spcBef>
                <a:spcPts val="0"/>
              </a:spcBef>
              <a:spcAft>
                <a:spcPts val="0"/>
              </a:spcAft>
              <a:buSzPts val="523"/>
              <a:buNone/>
            </a:pPr>
            <a:r>
              <a:rPr lang="en-US" sz="1800">
                <a:latin typeface="Arial"/>
                <a:ea typeface="Arial"/>
                <a:cs typeface="Arial"/>
                <a:sym typeface="Arial"/>
              </a:rPr>
              <a:t>The </a:t>
            </a:r>
            <a:r>
              <a:rPr b="1" lang="en-US" sz="1800">
                <a:latin typeface="Arial"/>
                <a:ea typeface="Arial"/>
                <a:cs typeface="Arial"/>
                <a:sym typeface="Arial"/>
              </a:rPr>
              <a:t>identification of breeds and phenotype</a:t>
            </a:r>
            <a:r>
              <a:rPr lang="en-US" sz="1800">
                <a:latin typeface="Arial"/>
                <a:ea typeface="Arial"/>
                <a:cs typeface="Arial"/>
                <a:sym typeface="Arial"/>
              </a:rPr>
              <a:t> evaluation of livestock is essential for the development of efficient breeding practices, the assessment of livestock productivity, and the maintenance of national livestock databases. Currently, there is a </a:t>
            </a:r>
            <a:r>
              <a:rPr b="1" lang="en-US" sz="1800">
                <a:latin typeface="Arial"/>
                <a:ea typeface="Arial"/>
                <a:cs typeface="Arial"/>
                <a:sym typeface="Arial"/>
              </a:rPr>
              <a:t>heavy reliance on manual, human experts</a:t>
            </a:r>
            <a:r>
              <a:rPr lang="en-US" sz="1800">
                <a:latin typeface="Arial"/>
                <a:ea typeface="Arial"/>
                <a:cs typeface="Arial"/>
                <a:sym typeface="Arial"/>
              </a:rPr>
              <a:t> to perform these tasks through visual inspection of animals. Unfortunately, this method is </a:t>
            </a:r>
            <a:r>
              <a:rPr b="1" lang="en-US" sz="1800">
                <a:latin typeface="Arial"/>
                <a:ea typeface="Arial"/>
                <a:cs typeface="Arial"/>
                <a:sym typeface="Arial"/>
              </a:rPr>
              <a:t>inefficient (time-consuming)</a:t>
            </a:r>
            <a:r>
              <a:rPr lang="en-US" sz="1800">
                <a:latin typeface="Arial"/>
                <a:ea typeface="Arial"/>
                <a:cs typeface="Arial"/>
                <a:sym typeface="Arial"/>
              </a:rPr>
              <a:t>, subjective, and challenging to implement across large numbers of livestock. Additionally, </a:t>
            </a:r>
            <a:r>
              <a:rPr b="1" lang="en-US" sz="1800">
                <a:latin typeface="Arial"/>
                <a:ea typeface="Arial"/>
                <a:cs typeface="Arial"/>
                <a:sym typeface="Arial"/>
              </a:rPr>
              <a:t>inconsistencies and errors</a:t>
            </a:r>
            <a:r>
              <a:rPr lang="en-US" sz="1800">
                <a:latin typeface="Arial"/>
                <a:ea typeface="Arial"/>
                <a:cs typeface="Arial"/>
                <a:sym typeface="Arial"/>
              </a:rPr>
              <a:t> can occur when using manual methods due to the volume and variability of data collected.</a:t>
            </a:r>
            <a:endParaRPr sz="18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Content</a:t>
            </a:r>
            <a:endParaRPr>
              <a:latin typeface="Cambria"/>
              <a:ea typeface="Cambria"/>
              <a:cs typeface="Cambria"/>
              <a:sym typeface="Cambria"/>
            </a:endParaRPr>
          </a:p>
        </p:txBody>
      </p:sp>
      <p:sp>
        <p:nvSpPr>
          <p:cNvPr id="123" name="Google Shape;123;p18"/>
          <p:cNvSpPr txBox="1"/>
          <p:nvPr>
            <p:ph idx="1" type="body"/>
          </p:nvPr>
        </p:nvSpPr>
        <p:spPr>
          <a:xfrm>
            <a:off x="762000" y="1091025"/>
            <a:ext cx="10668000" cy="4874400"/>
          </a:xfrm>
          <a:prstGeom prst="rect">
            <a:avLst/>
          </a:prstGeom>
          <a:noFill/>
          <a:ln>
            <a:noFill/>
          </a:ln>
        </p:spPr>
        <p:txBody>
          <a:bodyPr anchorCtr="0" anchor="t" bIns="45700" lIns="91425" spcFirstLastPara="1" rIns="91425" wrap="square" tIns="45700">
            <a:noAutofit/>
          </a:bodyPr>
          <a:lstStyle/>
          <a:p>
            <a:pPr indent="0" lvl="0" marL="0" rtl="0" algn="just">
              <a:lnSpc>
                <a:spcPct val="200000"/>
              </a:lnSpc>
              <a:spcBef>
                <a:spcPts val="0"/>
              </a:spcBef>
              <a:spcAft>
                <a:spcPts val="0"/>
              </a:spcAft>
              <a:buSzPts val="523"/>
              <a:buNone/>
            </a:pPr>
            <a:r>
              <a:rPr b="1" lang="en-US" sz="1800" u="sng">
                <a:latin typeface="Arial"/>
                <a:ea typeface="Arial"/>
                <a:cs typeface="Arial"/>
                <a:sym typeface="Arial"/>
              </a:rPr>
              <a:t>Background and Related work for title Selection</a:t>
            </a:r>
            <a:endParaRPr b="1" sz="1800" u="sng">
              <a:latin typeface="Arial"/>
              <a:ea typeface="Arial"/>
              <a:cs typeface="Arial"/>
              <a:sym typeface="Arial"/>
            </a:endParaRPr>
          </a:p>
          <a:p>
            <a:pPr indent="0" lvl="0" marL="457200" rtl="0" algn="just">
              <a:lnSpc>
                <a:spcPct val="150000"/>
              </a:lnSpc>
              <a:spcBef>
                <a:spcPts val="0"/>
              </a:spcBef>
              <a:spcAft>
                <a:spcPts val="0"/>
              </a:spcAft>
              <a:buSzPts val="523"/>
              <a:buNone/>
            </a:pPr>
            <a:r>
              <a:rPr lang="en-US" sz="1800">
                <a:latin typeface="Arial"/>
                <a:ea typeface="Arial"/>
                <a:cs typeface="Arial"/>
                <a:sym typeface="Arial"/>
              </a:rPr>
              <a:t>The emergence of </a:t>
            </a:r>
            <a:r>
              <a:rPr b="1" lang="en-US" sz="1800">
                <a:latin typeface="Arial"/>
                <a:ea typeface="Arial"/>
                <a:cs typeface="Arial"/>
                <a:sym typeface="Arial"/>
              </a:rPr>
              <a:t>deep learning and computer vision</a:t>
            </a:r>
            <a:r>
              <a:rPr lang="en-US" sz="1800">
                <a:latin typeface="Arial"/>
                <a:ea typeface="Arial"/>
                <a:cs typeface="Arial"/>
                <a:sym typeface="Arial"/>
              </a:rPr>
              <a:t> methods, especially convolutional neural networks </a:t>
            </a:r>
            <a:r>
              <a:rPr b="1" lang="en-US" sz="1800">
                <a:latin typeface="Arial"/>
                <a:ea typeface="Arial"/>
                <a:cs typeface="Arial"/>
                <a:sym typeface="Arial"/>
              </a:rPr>
              <a:t>(CNNs)</a:t>
            </a:r>
            <a:r>
              <a:rPr lang="en-US" sz="1800">
                <a:latin typeface="Arial"/>
                <a:ea typeface="Arial"/>
                <a:cs typeface="Arial"/>
                <a:sym typeface="Arial"/>
              </a:rPr>
              <a:t>, has allowed for the successful application of these techniques to numerous classification problems using images with very high levels of accuracy. Utilizing this technology will enable </a:t>
            </a:r>
            <a:r>
              <a:rPr b="1" lang="en-US" sz="1800">
                <a:latin typeface="Arial"/>
                <a:ea typeface="Arial"/>
                <a:cs typeface="Arial"/>
                <a:sym typeface="Arial"/>
              </a:rPr>
              <a:t>automatic, accurate, and scalable classifications</a:t>
            </a:r>
            <a:r>
              <a:rPr lang="en-US" sz="1800">
                <a:latin typeface="Arial"/>
                <a:ea typeface="Arial"/>
                <a:cs typeface="Arial"/>
                <a:sym typeface="Arial"/>
              </a:rPr>
              <a:t> of livestock by breed, while also producing estimates of key phenotypes based on imagery of livestock. Thus, the title </a:t>
            </a:r>
            <a:r>
              <a:rPr b="1" lang="en-US" sz="1800">
                <a:latin typeface="Arial"/>
                <a:ea typeface="Arial"/>
                <a:cs typeface="Arial"/>
                <a:sym typeface="Arial"/>
              </a:rPr>
              <a:t>“A Deep Learning-Based Computer Vision System for Livestock Breed Classification and Physical Trait Estimation”</a:t>
            </a:r>
            <a:r>
              <a:rPr lang="en-US" sz="1800">
                <a:latin typeface="Arial"/>
                <a:ea typeface="Arial"/>
                <a:cs typeface="Arial"/>
                <a:sym typeface="Arial"/>
              </a:rPr>
              <a:t> exemplifies the desire to supersede traditional manual methods currently in use, with an automated intelligent system using image-based inputs which is consistent with emerging research and meeting the requirements of the agricultural community.</a:t>
            </a:r>
            <a:endParaRPr sz="1800">
              <a:latin typeface="Arial"/>
              <a:ea typeface="Arial"/>
              <a:cs typeface="Arial"/>
              <a:sym typeface="Arial"/>
            </a:endParaRPr>
          </a:p>
          <a:p>
            <a:pPr indent="-190500" lvl="0" marL="495300" rtl="0" algn="just">
              <a:lnSpc>
                <a:spcPct val="200000"/>
              </a:lnSpc>
              <a:spcBef>
                <a:spcPts val="0"/>
              </a:spcBef>
              <a:spcAft>
                <a:spcPts val="0"/>
              </a:spcAft>
              <a:buClr>
                <a:schemeClr val="dk1"/>
              </a:buClr>
              <a:buSzPts val="1629"/>
              <a:buFont typeface="Noto Sans Symbols"/>
              <a:buNone/>
            </a:pPr>
            <a:r>
              <a:t/>
            </a:r>
            <a:endParaRPr sz="1800">
              <a:latin typeface="Arial"/>
              <a:ea typeface="Arial"/>
              <a:cs typeface="Arial"/>
              <a:sym typeface="Arial"/>
            </a:endParaRPr>
          </a:p>
          <a:p>
            <a:pPr indent="-190500" lvl="0" marL="495300" rtl="0" algn="just">
              <a:lnSpc>
                <a:spcPct val="200000"/>
              </a:lnSpc>
              <a:spcBef>
                <a:spcPts val="0"/>
              </a:spcBef>
              <a:spcAft>
                <a:spcPts val="0"/>
              </a:spcAft>
              <a:buClr>
                <a:schemeClr val="dk1"/>
              </a:buClr>
              <a:buSzPts val="1629"/>
              <a:buFont typeface="Noto Sans Symbols"/>
              <a:buNone/>
            </a:pPr>
            <a:r>
              <a:t/>
            </a:r>
            <a:endParaRPr sz="1800">
              <a:latin typeface="Arial"/>
              <a:ea typeface="Arial"/>
              <a:cs typeface="Arial"/>
              <a:sym typeface="Arial"/>
            </a:endParaRPr>
          </a:p>
          <a:p>
            <a:pPr indent="-190500" lvl="0" marL="495300" rtl="0" algn="just">
              <a:lnSpc>
                <a:spcPct val="200000"/>
              </a:lnSpc>
              <a:spcBef>
                <a:spcPts val="0"/>
              </a:spcBef>
              <a:spcAft>
                <a:spcPts val="0"/>
              </a:spcAft>
              <a:buClr>
                <a:schemeClr val="dk1"/>
              </a:buClr>
              <a:buSzPts val="1629"/>
              <a:buFont typeface="Noto Sans Symbols"/>
              <a:buNone/>
            </a:pPr>
            <a:r>
              <a:t/>
            </a:r>
            <a:endParaRPr sz="18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Content</a:t>
            </a:r>
            <a:endParaRPr>
              <a:latin typeface="Cambria"/>
              <a:ea typeface="Cambria"/>
              <a:cs typeface="Cambria"/>
              <a:sym typeface="Cambria"/>
            </a:endParaRPr>
          </a:p>
        </p:txBody>
      </p:sp>
      <p:sp>
        <p:nvSpPr>
          <p:cNvPr id="129" name="Google Shape;129;p19"/>
          <p:cNvSpPr txBox="1"/>
          <p:nvPr/>
        </p:nvSpPr>
        <p:spPr>
          <a:xfrm>
            <a:off x="855250" y="943125"/>
            <a:ext cx="10583100" cy="4948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700"/>
              <a:buFont typeface="Arial"/>
              <a:buNone/>
            </a:pPr>
            <a:r>
              <a:rPr b="1" i="0" lang="en-US" sz="1800" u="sng" cap="none" strike="noStrike">
                <a:solidFill>
                  <a:schemeClr val="dk1"/>
                </a:solidFill>
              </a:rPr>
              <a:t>Related Work:</a:t>
            </a:r>
            <a:endParaRPr b="1" i="0" sz="1800" u="sng" cap="none" strike="noStrike">
              <a:solidFill>
                <a:schemeClr val="dk1"/>
              </a:solidFill>
            </a:endParaRPr>
          </a:p>
          <a:p>
            <a:pPr indent="0" lvl="0" marL="0" marR="0" rtl="0" algn="l">
              <a:lnSpc>
                <a:spcPct val="150000"/>
              </a:lnSpc>
              <a:spcBef>
                <a:spcPts val="0"/>
              </a:spcBef>
              <a:spcAft>
                <a:spcPts val="0"/>
              </a:spcAft>
              <a:buNone/>
            </a:pPr>
            <a:r>
              <a:rPr lang="en-US" sz="1800">
                <a:solidFill>
                  <a:schemeClr val="dk1"/>
                </a:solidFill>
              </a:rPr>
              <a:t>Several research studies have explored animal classification using computer vision techniques:</a:t>
            </a:r>
            <a:endParaRPr sz="1800">
              <a:solidFill>
                <a:schemeClr val="dk1"/>
              </a:solidFill>
            </a:endParaRPr>
          </a:p>
          <a:p>
            <a:pPr indent="-342900" lvl="0" marL="457200" marR="0" rtl="0" algn="l">
              <a:lnSpc>
                <a:spcPct val="150000"/>
              </a:lnSpc>
              <a:spcBef>
                <a:spcPts val="0"/>
              </a:spcBef>
              <a:spcAft>
                <a:spcPts val="0"/>
              </a:spcAft>
              <a:buClr>
                <a:schemeClr val="dk1"/>
              </a:buClr>
              <a:buSzPts val="1800"/>
              <a:buAutoNum type="arabicPeriod"/>
            </a:pPr>
            <a:r>
              <a:rPr lang="en-US" sz="1800">
                <a:solidFill>
                  <a:schemeClr val="dk1"/>
                </a:solidFill>
              </a:rPr>
              <a:t>CNN-based models have been used for animal species classification, demonstrating high accuracy </a:t>
            </a:r>
            <a:r>
              <a:rPr lang="en-US" sz="1800">
                <a:solidFill>
                  <a:schemeClr val="dk1"/>
                </a:solidFill>
              </a:rPr>
              <a:t>w</a:t>
            </a:r>
            <a:r>
              <a:rPr lang="en-US" sz="1800">
                <a:solidFill>
                  <a:schemeClr val="dk1"/>
                </a:solidFill>
              </a:rPr>
              <a:t>ith transfer learning.</a:t>
            </a:r>
            <a:endParaRPr sz="1800">
              <a:solidFill>
                <a:schemeClr val="dk1"/>
              </a:solidFill>
            </a:endParaRPr>
          </a:p>
          <a:p>
            <a:pPr indent="-342900" lvl="0" marL="457200" marR="0" rtl="0" algn="l">
              <a:lnSpc>
                <a:spcPct val="150000"/>
              </a:lnSpc>
              <a:spcBef>
                <a:spcPts val="0"/>
              </a:spcBef>
              <a:spcAft>
                <a:spcPts val="0"/>
              </a:spcAft>
              <a:buClr>
                <a:schemeClr val="dk1"/>
              </a:buClr>
              <a:buSzPts val="1800"/>
              <a:buAutoNum type="arabicPeriod"/>
            </a:pPr>
            <a:r>
              <a:rPr lang="en-US" sz="1800">
                <a:solidFill>
                  <a:schemeClr val="dk1"/>
                </a:solidFill>
              </a:rPr>
              <a:t>Some studies have applied deep learning for cattle identification, focusing mainly on single-task breed classification.</a:t>
            </a:r>
            <a:endParaRPr sz="1800">
              <a:solidFill>
                <a:schemeClr val="dk1"/>
              </a:solidFill>
            </a:endParaRPr>
          </a:p>
          <a:p>
            <a:pPr indent="-342900" lvl="0" marL="457200" marR="0" rtl="0" algn="l">
              <a:lnSpc>
                <a:spcPct val="150000"/>
              </a:lnSpc>
              <a:spcBef>
                <a:spcPts val="0"/>
              </a:spcBef>
              <a:spcAft>
                <a:spcPts val="0"/>
              </a:spcAft>
              <a:buClr>
                <a:schemeClr val="dk1"/>
              </a:buClr>
              <a:buSzPts val="1800"/>
              <a:buAutoNum type="arabicPeriod"/>
            </a:pPr>
            <a:r>
              <a:rPr lang="en-US" sz="1800">
                <a:solidFill>
                  <a:schemeClr val="dk1"/>
                </a:solidFill>
              </a:rPr>
              <a:t>Limited works have explored physical trait estimation or explainable AI in livestock applications.</a:t>
            </a:r>
            <a:endParaRPr sz="1800">
              <a:solidFill>
                <a:schemeClr val="dk1"/>
              </a:solidFill>
            </a:endParaRPr>
          </a:p>
          <a:p>
            <a:pPr indent="0" lvl="0" marL="0" marR="0" rtl="0" algn="l">
              <a:lnSpc>
                <a:spcPct val="150000"/>
              </a:lnSpc>
              <a:spcBef>
                <a:spcPts val="0"/>
              </a:spcBef>
              <a:spcAft>
                <a:spcPts val="0"/>
              </a:spcAft>
              <a:buNone/>
            </a:pPr>
            <a:r>
              <a:rPr lang="en-US" sz="1800">
                <a:solidFill>
                  <a:schemeClr val="dk1"/>
                </a:solidFill>
              </a:rPr>
              <a:t>However, most existing works lack:</a:t>
            </a:r>
            <a:endParaRPr sz="1800">
              <a:solidFill>
                <a:schemeClr val="dk1"/>
              </a:solidFill>
            </a:endParaRPr>
          </a:p>
          <a:p>
            <a:pPr indent="-342900" lvl="0" marL="457200" marR="0" rtl="0" algn="l">
              <a:lnSpc>
                <a:spcPct val="150000"/>
              </a:lnSpc>
              <a:spcBef>
                <a:spcPts val="0"/>
              </a:spcBef>
              <a:spcAft>
                <a:spcPts val="0"/>
              </a:spcAft>
              <a:buClr>
                <a:schemeClr val="dk1"/>
              </a:buClr>
              <a:buSzPts val="1800"/>
              <a:buAutoNum type="arabicPeriod"/>
            </a:pPr>
            <a:r>
              <a:rPr lang="en-US" sz="1800">
                <a:solidFill>
                  <a:schemeClr val="dk1"/>
                </a:solidFill>
              </a:rPr>
              <a:t>Multi-task learning approaches</a:t>
            </a:r>
            <a:endParaRPr sz="1800">
              <a:solidFill>
                <a:schemeClr val="dk1"/>
              </a:solidFill>
            </a:endParaRPr>
          </a:p>
          <a:p>
            <a:pPr indent="-342900" lvl="0" marL="457200" marR="0" rtl="0" algn="l">
              <a:lnSpc>
                <a:spcPct val="150000"/>
              </a:lnSpc>
              <a:spcBef>
                <a:spcPts val="0"/>
              </a:spcBef>
              <a:spcAft>
                <a:spcPts val="0"/>
              </a:spcAft>
              <a:buClr>
                <a:schemeClr val="dk1"/>
              </a:buClr>
              <a:buSzPts val="1800"/>
              <a:buAutoNum type="arabicPeriod"/>
            </a:pPr>
            <a:r>
              <a:rPr lang="en-US" sz="1800">
                <a:solidFill>
                  <a:schemeClr val="dk1"/>
                </a:solidFill>
              </a:rPr>
              <a:t>Explainability mechanisms</a:t>
            </a:r>
            <a:endParaRPr sz="1800">
              <a:solidFill>
                <a:schemeClr val="dk1"/>
              </a:solidFill>
            </a:endParaRPr>
          </a:p>
          <a:p>
            <a:pPr indent="-342900" lvl="0" marL="457200" marR="0" rtl="0" algn="l">
              <a:lnSpc>
                <a:spcPct val="150000"/>
              </a:lnSpc>
              <a:spcBef>
                <a:spcPts val="0"/>
              </a:spcBef>
              <a:spcAft>
                <a:spcPts val="0"/>
              </a:spcAft>
              <a:buClr>
                <a:schemeClr val="dk1"/>
              </a:buClr>
              <a:buSzPts val="1800"/>
              <a:buAutoNum type="arabicPeriod"/>
            </a:pPr>
            <a:r>
              <a:rPr lang="en-US" sz="1800">
                <a:solidFill>
                  <a:schemeClr val="dk1"/>
                </a:solidFill>
              </a:rPr>
              <a:t>Comparative evaluation of multiple deep learning architectures</a:t>
            </a:r>
            <a:endParaRPr sz="1800">
              <a:solidFill>
                <a:schemeClr val="dk1"/>
              </a:solidFill>
            </a:endParaRPr>
          </a:p>
          <a:p>
            <a:pPr indent="0" lvl="0" marL="0" marR="0" rtl="0" algn="l">
              <a:lnSpc>
                <a:spcPct val="150000"/>
              </a:lnSpc>
              <a:spcBef>
                <a:spcPts val="0"/>
              </a:spcBef>
              <a:spcAft>
                <a:spcPts val="0"/>
              </a:spcAft>
              <a:buNone/>
            </a:pPr>
            <a:r>
              <a:rPr lang="en-US" sz="1800">
                <a:solidFill>
                  <a:schemeClr val="dk1"/>
                </a:solidFill>
              </a:rPr>
              <a:t>This project aims to bridge these gaps.</a:t>
            </a:r>
            <a:endParaRPr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Analysis of Problem Statement</a:t>
            </a:r>
            <a:endParaRPr/>
          </a:p>
        </p:txBody>
      </p:sp>
      <p:sp>
        <p:nvSpPr>
          <p:cNvPr id="135" name="Google Shape;135;p20"/>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None/>
            </a:pPr>
            <a:r>
              <a:rPr b="1" lang="en-US" sz="1800" u="sng">
                <a:latin typeface="Arial"/>
                <a:ea typeface="Arial"/>
                <a:cs typeface="Arial"/>
                <a:sym typeface="Arial"/>
              </a:rPr>
              <a:t>Technology Stack Components:</a:t>
            </a:r>
            <a:endParaRPr sz="1800" u="sng">
              <a:latin typeface="Arial"/>
              <a:ea typeface="Arial"/>
              <a:cs typeface="Arial"/>
              <a:sym typeface="Arial"/>
            </a:endParaRPr>
          </a:p>
          <a:p>
            <a:pPr indent="0" lvl="0" marL="0" rtl="0" algn="just">
              <a:lnSpc>
                <a:spcPct val="150000"/>
              </a:lnSpc>
              <a:spcBef>
                <a:spcPts val="0"/>
              </a:spcBef>
              <a:spcAft>
                <a:spcPts val="0"/>
              </a:spcAft>
              <a:buNone/>
            </a:pPr>
            <a:r>
              <a:rPr b="1" lang="en-US" sz="1800">
                <a:latin typeface="Arial"/>
                <a:ea typeface="Arial"/>
                <a:cs typeface="Arial"/>
                <a:sym typeface="Arial"/>
              </a:rPr>
              <a:t>Machine Learning &amp; Computer Vision</a:t>
            </a:r>
            <a:endParaRPr b="1"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Python</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Deep Learning Framework: PyTorch / TensorFlow</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CNN Architectures: ResNet, EfficientNet, MobileNet</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OpenCV for image preprocessing</a:t>
            </a:r>
            <a:endParaRPr sz="1800">
              <a:latin typeface="Arial"/>
              <a:ea typeface="Arial"/>
              <a:cs typeface="Arial"/>
              <a:sym typeface="Arial"/>
            </a:endParaRPr>
          </a:p>
          <a:p>
            <a:pPr indent="0" lvl="0" marL="0" rtl="0" algn="just">
              <a:lnSpc>
                <a:spcPct val="150000"/>
              </a:lnSpc>
              <a:spcBef>
                <a:spcPts val="0"/>
              </a:spcBef>
              <a:spcAft>
                <a:spcPts val="0"/>
              </a:spcAft>
              <a:buNone/>
            </a:pPr>
            <a:r>
              <a:rPr b="1" lang="en-US" sz="1800">
                <a:latin typeface="Arial"/>
                <a:ea typeface="Arial"/>
                <a:cs typeface="Arial"/>
                <a:sym typeface="Arial"/>
              </a:rPr>
              <a:t>Backend</a:t>
            </a:r>
            <a:endParaRPr b="1"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FastAPI for inference APIs</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RESTful services</a:t>
            </a:r>
            <a:endParaRPr sz="1800">
              <a:latin typeface="Arial"/>
              <a:ea typeface="Arial"/>
              <a:cs typeface="Arial"/>
              <a:sym typeface="Arial"/>
            </a:endParaRPr>
          </a:p>
          <a:p>
            <a:pPr indent="0" lvl="0" marL="0" rtl="0" algn="just">
              <a:lnSpc>
                <a:spcPct val="150000"/>
              </a:lnSpc>
              <a:spcBef>
                <a:spcPts val="0"/>
              </a:spcBef>
              <a:spcAft>
                <a:spcPts val="0"/>
              </a:spcAft>
              <a:buNone/>
            </a:pPr>
            <a:r>
              <a:rPr b="1" lang="en-US" sz="1800">
                <a:latin typeface="Arial"/>
                <a:ea typeface="Arial"/>
                <a:cs typeface="Arial"/>
                <a:sym typeface="Arial"/>
              </a:rPr>
              <a:t>Deployment &amp; Tools</a:t>
            </a:r>
            <a:endParaRPr b="1"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Docker for containerization</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Git/GitHub for version control</a:t>
            </a:r>
            <a:endParaRPr sz="1800">
              <a:latin typeface="Arial"/>
              <a:ea typeface="Arial"/>
              <a:cs typeface="Arial"/>
              <a:sym typeface="Arial"/>
            </a:endParaRPr>
          </a:p>
          <a:p>
            <a:pPr indent="0" lvl="0" marL="0" rtl="0" algn="just">
              <a:lnSpc>
                <a:spcPct val="150000"/>
              </a:lnSpc>
              <a:spcBef>
                <a:spcPts val="0"/>
              </a:spcBef>
              <a:spcAft>
                <a:spcPts val="0"/>
              </a:spcAft>
              <a:buNone/>
            </a:pPr>
            <a:r>
              <a:t/>
            </a:r>
            <a:endParaRPr sz="1800">
              <a:latin typeface="Arial"/>
              <a:ea typeface="Arial"/>
              <a:cs typeface="Arial"/>
              <a:sym typeface="Arial"/>
            </a:endParaRPr>
          </a:p>
          <a:p>
            <a:pPr indent="0" lvl="0" marL="0" rtl="0" algn="just">
              <a:lnSpc>
                <a:spcPct val="150000"/>
              </a:lnSpc>
              <a:spcBef>
                <a:spcPts val="0"/>
              </a:spcBef>
              <a:spcAft>
                <a:spcPts val="0"/>
              </a:spcAft>
              <a:buNone/>
            </a:pPr>
            <a:r>
              <a:t/>
            </a:r>
            <a:endParaRPr sz="18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Analysis of Problem Statement </a:t>
            </a:r>
            <a:r>
              <a:rPr lang="en-US" sz="2000">
                <a:latin typeface="Cambria"/>
                <a:ea typeface="Cambria"/>
                <a:cs typeface="Cambria"/>
                <a:sym typeface="Cambria"/>
              </a:rPr>
              <a:t>(contd...)</a:t>
            </a:r>
            <a:endParaRPr>
              <a:latin typeface="Cambria"/>
              <a:ea typeface="Cambria"/>
              <a:cs typeface="Cambria"/>
              <a:sym typeface="Cambria"/>
            </a:endParaRPr>
          </a:p>
        </p:txBody>
      </p:sp>
      <p:sp>
        <p:nvSpPr>
          <p:cNvPr id="141" name="Google Shape;141;p21"/>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200000"/>
              </a:lnSpc>
              <a:spcBef>
                <a:spcPts val="0"/>
              </a:spcBef>
              <a:spcAft>
                <a:spcPts val="0"/>
              </a:spcAft>
              <a:buClr>
                <a:schemeClr val="dk1"/>
              </a:buClr>
              <a:buSzPts val="2400"/>
              <a:buNone/>
            </a:pPr>
            <a:r>
              <a:rPr b="1" lang="en-US" sz="1800" u="sng">
                <a:latin typeface="Arial"/>
                <a:ea typeface="Arial"/>
                <a:cs typeface="Arial"/>
                <a:sym typeface="Arial"/>
              </a:rPr>
              <a:t>Software and Hardware Requirements</a:t>
            </a:r>
            <a:r>
              <a:rPr b="1" lang="en-US" sz="1800" u="sng">
                <a:latin typeface="Arial"/>
                <a:ea typeface="Arial"/>
                <a:cs typeface="Arial"/>
                <a:sym typeface="Arial"/>
              </a:rPr>
              <a:t>:</a:t>
            </a:r>
            <a:r>
              <a:rPr lang="en-US" sz="1800" u="sng">
                <a:latin typeface="Arial"/>
                <a:ea typeface="Arial"/>
                <a:cs typeface="Arial"/>
                <a:sym typeface="Arial"/>
              </a:rPr>
              <a:t> </a:t>
            </a:r>
            <a:endParaRPr sz="1800" u="sng">
              <a:latin typeface="Arial"/>
              <a:ea typeface="Arial"/>
              <a:cs typeface="Arial"/>
              <a:sym typeface="Arial"/>
            </a:endParaRPr>
          </a:p>
          <a:p>
            <a:pPr indent="-190500" lvl="0" marL="342900" rtl="0" algn="just">
              <a:lnSpc>
                <a:spcPct val="135000"/>
              </a:lnSpc>
              <a:spcBef>
                <a:spcPts val="0"/>
              </a:spcBef>
              <a:spcAft>
                <a:spcPts val="0"/>
              </a:spcAft>
              <a:buClr>
                <a:schemeClr val="dk1"/>
              </a:buClr>
              <a:buSzPts val="2400"/>
              <a:buNone/>
            </a:pPr>
            <a:r>
              <a:rPr lang="en-US" sz="1800">
                <a:latin typeface="Arial"/>
                <a:ea typeface="Arial"/>
                <a:cs typeface="Arial"/>
                <a:sym typeface="Arial"/>
              </a:rPr>
              <a:t>		</a:t>
            </a:r>
            <a:r>
              <a:rPr b="1" lang="en-US" sz="1800">
                <a:latin typeface="Arial"/>
                <a:ea typeface="Arial"/>
                <a:cs typeface="Arial"/>
                <a:sym typeface="Arial"/>
              </a:rPr>
              <a:t>Software:</a:t>
            </a:r>
            <a:r>
              <a:rPr lang="en-US" sz="1800">
                <a:latin typeface="Arial"/>
                <a:ea typeface="Arial"/>
                <a:cs typeface="Arial"/>
                <a:sym typeface="Arial"/>
              </a:rPr>
              <a:t> </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O</a:t>
            </a:r>
            <a:r>
              <a:rPr lang="en-US" sz="1800">
                <a:latin typeface="Arial"/>
                <a:ea typeface="Arial"/>
                <a:cs typeface="Arial"/>
                <a:sym typeface="Arial"/>
              </a:rPr>
              <a:t>perating System: Windows / Linux</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Python 3.x</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PyTorch / TensorFlow</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OpenCV</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FastAPI</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Docker</a:t>
            </a:r>
            <a:endParaRPr sz="1800">
              <a:latin typeface="Arial"/>
              <a:ea typeface="Arial"/>
              <a:cs typeface="Arial"/>
              <a:sym typeface="Arial"/>
            </a:endParaRPr>
          </a:p>
          <a:p>
            <a:pPr indent="0" lvl="0" marL="457200" rtl="0" algn="just">
              <a:lnSpc>
                <a:spcPct val="135000"/>
              </a:lnSpc>
              <a:spcBef>
                <a:spcPts val="0"/>
              </a:spcBef>
              <a:spcAft>
                <a:spcPts val="0"/>
              </a:spcAft>
              <a:buClr>
                <a:schemeClr val="dk1"/>
              </a:buClr>
              <a:buSzPts val="1100"/>
              <a:buFont typeface="Arial"/>
              <a:buNone/>
            </a:pPr>
            <a:r>
              <a:rPr b="1" lang="en-US" sz="1800">
                <a:latin typeface="Arial"/>
                <a:ea typeface="Arial"/>
                <a:cs typeface="Arial"/>
                <a:sym typeface="Arial"/>
              </a:rPr>
              <a:t>Hardware:</a:t>
            </a:r>
            <a:r>
              <a:rPr lang="en-US" sz="1800">
                <a:latin typeface="Arial"/>
                <a:ea typeface="Arial"/>
                <a:cs typeface="Arial"/>
                <a:sym typeface="Arial"/>
              </a:rPr>
              <a:t> </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Minimum 8 GB RAM</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CPU with multi-core support</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GPU (NVIDIA CUDA-enabled) – optional but recommended for training</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Storage: Minimum 20 GB</a:t>
            </a:r>
            <a:endParaRPr sz="1800">
              <a:latin typeface="Arial"/>
              <a:ea typeface="Arial"/>
              <a:cs typeface="Arial"/>
              <a:sym typeface="Arial"/>
            </a:endParaRPr>
          </a:p>
          <a:p>
            <a:pPr indent="-190500" lvl="0" marL="342900" rtl="0" algn="just">
              <a:lnSpc>
                <a:spcPct val="150000"/>
              </a:lnSpc>
              <a:spcBef>
                <a:spcPts val="0"/>
              </a:spcBef>
              <a:spcAft>
                <a:spcPts val="0"/>
              </a:spcAft>
              <a:buClr>
                <a:schemeClr val="dk1"/>
              </a:buClr>
              <a:buSzPts val="2400"/>
              <a:buNone/>
            </a:pPr>
            <a:r>
              <a:t/>
            </a:r>
            <a:endParaRPr sz="180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Innovation &amp; Novel Contributions</a:t>
            </a:r>
            <a:endParaRPr>
              <a:latin typeface="Cambria"/>
              <a:ea typeface="Cambria"/>
              <a:cs typeface="Cambria"/>
              <a:sym typeface="Cambria"/>
            </a:endParaRPr>
          </a:p>
        </p:txBody>
      </p:sp>
      <p:sp>
        <p:nvSpPr>
          <p:cNvPr id="147" name="Google Shape;147;p22"/>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150000"/>
              </a:lnSpc>
              <a:spcBef>
                <a:spcPts val="1200"/>
              </a:spcBef>
              <a:spcAft>
                <a:spcPts val="0"/>
              </a:spcAft>
              <a:buClr>
                <a:schemeClr val="dk1"/>
              </a:buClr>
              <a:buSzPts val="2400"/>
              <a:buNone/>
            </a:pPr>
            <a:r>
              <a:rPr lang="en-US" sz="1800">
                <a:latin typeface="Arial"/>
                <a:ea typeface="Arial"/>
                <a:cs typeface="Arial"/>
                <a:sym typeface="Arial"/>
              </a:rPr>
              <a:t>The innovative features of this project are:</a:t>
            </a:r>
            <a:endParaRPr sz="1800">
              <a:latin typeface="Arial"/>
              <a:ea typeface="Arial"/>
              <a:cs typeface="Arial"/>
              <a:sym typeface="Arial"/>
            </a:endParaRPr>
          </a:p>
          <a:p>
            <a:pPr indent="-342900" lvl="0" marL="457200" rtl="0" algn="just">
              <a:lnSpc>
                <a:spcPct val="150000"/>
              </a:lnSpc>
              <a:spcBef>
                <a:spcPts val="1200"/>
              </a:spcBef>
              <a:spcAft>
                <a:spcPts val="0"/>
              </a:spcAft>
              <a:buSzPts val="1800"/>
              <a:buFont typeface="Arial"/>
              <a:buAutoNum type="arabicPeriod"/>
            </a:pPr>
            <a:r>
              <a:rPr lang="en-US" sz="1800">
                <a:latin typeface="Arial"/>
                <a:ea typeface="Arial"/>
                <a:cs typeface="Arial"/>
                <a:sym typeface="Arial"/>
              </a:rPr>
              <a:t>Utilizing a </a:t>
            </a:r>
            <a:r>
              <a:rPr b="1" lang="en-US" sz="1800">
                <a:latin typeface="Arial"/>
                <a:ea typeface="Arial"/>
                <a:cs typeface="Arial"/>
                <a:sym typeface="Arial"/>
              </a:rPr>
              <a:t>Multi-Task Learning framework</a:t>
            </a:r>
            <a:r>
              <a:rPr lang="en-US" sz="1800">
                <a:latin typeface="Arial"/>
                <a:ea typeface="Arial"/>
                <a:cs typeface="Arial"/>
                <a:sym typeface="Arial"/>
              </a:rPr>
              <a:t> that combines both physical trait prediction and breed classification.</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AutoNum type="arabicPeriod"/>
            </a:pPr>
            <a:r>
              <a:rPr lang="en-US" sz="1800">
                <a:latin typeface="Arial"/>
                <a:ea typeface="Arial"/>
                <a:cs typeface="Arial"/>
                <a:sym typeface="Arial"/>
              </a:rPr>
              <a:t>Conducting </a:t>
            </a:r>
            <a:r>
              <a:rPr b="1" lang="en-US" sz="1800">
                <a:latin typeface="Arial"/>
                <a:ea typeface="Arial"/>
                <a:cs typeface="Arial"/>
                <a:sym typeface="Arial"/>
              </a:rPr>
              <a:t>comparative analysis</a:t>
            </a:r>
            <a:r>
              <a:rPr lang="en-US" sz="1800">
                <a:latin typeface="Arial"/>
                <a:ea typeface="Arial"/>
                <a:cs typeface="Arial"/>
                <a:sym typeface="Arial"/>
              </a:rPr>
              <a:t> of deep learning architectures applied to livestock photos.</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AutoNum type="arabicPeriod"/>
            </a:pPr>
            <a:r>
              <a:rPr lang="en-US" sz="1800">
                <a:latin typeface="Arial"/>
                <a:ea typeface="Arial"/>
                <a:cs typeface="Arial"/>
                <a:sym typeface="Arial"/>
              </a:rPr>
              <a:t>Implementing </a:t>
            </a:r>
            <a:r>
              <a:rPr b="1" lang="en-US" sz="1800">
                <a:latin typeface="Arial"/>
                <a:ea typeface="Arial"/>
                <a:cs typeface="Arial"/>
                <a:sym typeface="Arial"/>
              </a:rPr>
              <a:t>Explainable AI using Grad-CAM</a:t>
            </a:r>
            <a:r>
              <a:rPr lang="en-US" sz="1800">
                <a:latin typeface="Arial"/>
                <a:ea typeface="Arial"/>
                <a:cs typeface="Arial"/>
                <a:sym typeface="Arial"/>
              </a:rPr>
              <a:t> to visually show the underlying results of model decisions.</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AutoNum type="arabicPeriod"/>
            </a:pPr>
            <a:r>
              <a:rPr lang="en-US" sz="1800">
                <a:latin typeface="Arial"/>
                <a:ea typeface="Arial"/>
                <a:cs typeface="Arial"/>
                <a:sym typeface="Arial"/>
              </a:rPr>
              <a:t>Emphasizing an </a:t>
            </a:r>
            <a:r>
              <a:rPr b="1" lang="en-US" sz="1800">
                <a:latin typeface="Arial"/>
                <a:ea typeface="Arial"/>
                <a:cs typeface="Arial"/>
                <a:sym typeface="Arial"/>
              </a:rPr>
              <a:t>architecture that can be deployed</a:t>
            </a:r>
            <a:r>
              <a:rPr lang="en-US" sz="1800">
                <a:latin typeface="Arial"/>
                <a:ea typeface="Arial"/>
                <a:cs typeface="Arial"/>
                <a:sym typeface="Arial"/>
              </a:rPr>
              <a:t> </a:t>
            </a:r>
            <a:r>
              <a:rPr b="1" lang="en-US" sz="1800">
                <a:latin typeface="Arial"/>
                <a:ea typeface="Arial"/>
                <a:cs typeface="Arial"/>
                <a:sym typeface="Arial"/>
              </a:rPr>
              <a:t>directly</a:t>
            </a:r>
            <a:r>
              <a:rPr lang="en-US" sz="1800">
                <a:latin typeface="Arial"/>
                <a:ea typeface="Arial"/>
                <a:cs typeface="Arial"/>
                <a:sym typeface="Arial"/>
              </a:rPr>
              <a:t> into government agriculture management systems as opposed to only being for training models.</a:t>
            </a:r>
            <a:endParaRPr sz="18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Timeline of the Project (Gantt Chart)</a:t>
            </a:r>
            <a:endParaRPr>
              <a:latin typeface="Cambria"/>
              <a:ea typeface="Cambria"/>
              <a:cs typeface="Cambria"/>
              <a:sym typeface="Cambria"/>
            </a:endParaRPr>
          </a:p>
        </p:txBody>
      </p:sp>
      <p:pic>
        <p:nvPicPr>
          <p:cNvPr id="153" name="Google Shape;153;p23"/>
          <p:cNvPicPr preferRelativeResize="0"/>
          <p:nvPr/>
        </p:nvPicPr>
        <p:blipFill rotWithShape="1">
          <a:blip r:embed="rId3">
            <a:alphaModFix/>
          </a:blip>
          <a:srcRect b="0" l="0" r="0" t="-3907"/>
          <a:stretch/>
        </p:blipFill>
        <p:spPr>
          <a:xfrm>
            <a:off x="710375" y="707436"/>
            <a:ext cx="10668000" cy="565351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Github</a:t>
            </a:r>
            <a:endParaRPr>
              <a:latin typeface="Cambria"/>
              <a:ea typeface="Cambria"/>
              <a:cs typeface="Cambria"/>
              <a:sym typeface="Cambria"/>
            </a:endParaRPr>
          </a:p>
        </p:txBody>
      </p:sp>
      <p:sp>
        <p:nvSpPr>
          <p:cNvPr id="159" name="Google Shape;159;p24"/>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p:txBody>
      </p:sp>
      <p:sp>
        <p:nvSpPr>
          <p:cNvPr id="160" name="Google Shape;160;p24"/>
          <p:cNvSpPr txBox="1"/>
          <p:nvPr/>
        </p:nvSpPr>
        <p:spPr>
          <a:xfrm>
            <a:off x="965200" y="1295400"/>
            <a:ext cx="10668000" cy="49530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p:txBody>
      </p:sp>
      <p:sp>
        <p:nvSpPr>
          <p:cNvPr id="161" name="Google Shape;161;p24"/>
          <p:cNvSpPr txBox="1"/>
          <p:nvPr/>
        </p:nvSpPr>
        <p:spPr>
          <a:xfrm>
            <a:off x="812800" y="1143000"/>
            <a:ext cx="10668000" cy="41783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rPr b="1" i="0" lang="en-US" sz="2400" u="none" cap="none" strike="noStrike">
                <a:solidFill>
                  <a:srgbClr val="953734"/>
                </a:solidFill>
                <a:latin typeface="Cambria"/>
                <a:ea typeface="Cambria"/>
                <a:cs typeface="Cambria"/>
                <a:sym typeface="Cambria"/>
              </a:rPr>
              <a:t>Github Repository Link:</a:t>
            </a:r>
            <a:endParaRPr b="1" i="0" sz="2400" u="none" cap="none" strike="noStrike">
              <a:solidFill>
                <a:srgbClr val="953734"/>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1" i="0" sz="2400" u="none" cap="none" strike="noStrike">
              <a:solidFill>
                <a:srgbClr val="000000"/>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rPr b="1" lang="en-US" sz="2400" u="sng">
                <a:solidFill>
                  <a:schemeClr val="hlink"/>
                </a:solidFill>
                <a:latin typeface="Cambria"/>
                <a:ea typeface="Cambria"/>
                <a:cs typeface="Cambria"/>
                <a:sym typeface="Cambria"/>
                <a:hlinkClick r:id="rId3"/>
              </a:rPr>
              <a:t>https://github.com/ashwin2947/cattle-ai</a:t>
            </a:r>
            <a:endParaRPr b="1" i="0" sz="2400" u="none" cap="none" strike="noStrike">
              <a:solidFill>
                <a:srgbClr val="000000"/>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References (IEEE Paper format)</a:t>
            </a:r>
            <a:endParaRPr>
              <a:latin typeface="Cambria"/>
              <a:ea typeface="Cambria"/>
              <a:cs typeface="Cambria"/>
              <a:sym typeface="Cambria"/>
            </a:endParaRPr>
          </a:p>
        </p:txBody>
      </p:sp>
      <p:sp>
        <p:nvSpPr>
          <p:cNvPr id="167" name="Google Shape;167;p25"/>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342900" lvl="0" marL="457200" rtl="0" algn="l">
              <a:lnSpc>
                <a:spcPct val="150000"/>
              </a:lnSpc>
              <a:spcBef>
                <a:spcPts val="0"/>
              </a:spcBef>
              <a:spcAft>
                <a:spcPts val="0"/>
              </a:spcAft>
              <a:buSzPts val="1800"/>
              <a:buFont typeface="Arial"/>
              <a:buAutoNum type="arabicPeriod"/>
            </a:pPr>
            <a:r>
              <a:rPr lang="en-US" sz="1800">
                <a:latin typeface="Arial"/>
                <a:ea typeface="Arial"/>
                <a:cs typeface="Arial"/>
                <a:sym typeface="Arial"/>
              </a:rPr>
              <a:t>Krizhevsky, A., Sutskever, I., &amp; Hinton, G. E., “ImageNet Classification with Deep Convolutional Neural Networks,” IEEE, 2012.</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AutoNum type="arabicPeriod"/>
            </a:pPr>
            <a:r>
              <a:rPr lang="en-US" sz="1800">
                <a:latin typeface="Arial"/>
                <a:ea typeface="Arial"/>
                <a:cs typeface="Arial"/>
                <a:sym typeface="Arial"/>
              </a:rPr>
              <a:t>He, K., Zhang, X., Ren, S., &amp; Sun, J., “Deep Residual Learning for Image Recognition,” CVPR, 2016.</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AutoNum type="arabicPeriod"/>
            </a:pPr>
            <a:r>
              <a:rPr lang="en-US" sz="1800">
                <a:latin typeface="Arial"/>
                <a:ea typeface="Arial"/>
                <a:cs typeface="Arial"/>
                <a:sym typeface="Arial"/>
              </a:rPr>
              <a:t>Tan, M., &amp; Le, Q., “EfficientNet: Rethinking Model Scaling for CNNs,” ICML, 2019.</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AutoNum type="arabicPeriod"/>
            </a:pPr>
            <a:r>
              <a:rPr lang="en-US" sz="1800">
                <a:latin typeface="Arial"/>
                <a:ea typeface="Arial"/>
                <a:cs typeface="Arial"/>
                <a:sym typeface="Arial"/>
              </a:rPr>
              <a:t>Selvaraju, R. R. et al., “Grad-CAM: Visual Explanations from Deep Networks,” ICCV, 2017.</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AutoNum type="arabicPeriod"/>
            </a:pPr>
            <a:r>
              <a:rPr lang="en-US" sz="1800">
                <a:latin typeface="Arial"/>
                <a:ea typeface="Arial"/>
                <a:cs typeface="Arial"/>
                <a:sym typeface="Arial"/>
              </a:rPr>
              <a:t>Kamilaris, A., &amp; Prenafeta-Boldú, F. X., “Deep Learning in Agriculture: A Survey,” Computers and Electronics in Agriculture, 2018.</a:t>
            </a:r>
            <a:endParaRPr sz="18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26"/>
          <p:cNvPicPr preferRelativeResize="0"/>
          <p:nvPr/>
        </p:nvPicPr>
        <p:blipFill rotWithShape="1">
          <a:blip r:embed="rId3">
            <a:alphaModFix/>
          </a:blip>
          <a:srcRect b="0" l="0" r="0" t="0"/>
          <a:stretch/>
        </p:blipFill>
        <p:spPr>
          <a:xfrm>
            <a:off x="4082811" y="1441315"/>
            <a:ext cx="3893305" cy="393547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